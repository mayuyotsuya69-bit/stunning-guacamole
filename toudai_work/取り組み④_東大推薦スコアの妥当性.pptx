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12191695" cy="1783080"/>
          </a:xfrm>
          <a:prstGeom prst="rect">
            <a:avLst/>
          </a:prstGeom>
          <a:solidFill>
            <a:srgbClr val="E7F1EE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3E8C7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5544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100" kern="0" dirty="0">
                <a:solidFill>
                  <a:srgbClr val="C2603F"/>
                </a:solidFill>
                <a:latin typeface="ヒラギノ角ゴシック W6" pitchFamily="34" charset="0"/>
                <a:ea typeface="ヒラギノ角ゴシック W6" pitchFamily="34" charset="-122"/>
                <a:cs typeface="ヒラギノ角ゴシック W6" pitchFamily="34" charset="-120"/>
              </a:rPr>
              <a:t>取り組み④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2E6457"/>
                </a:solidFill>
                <a:latin typeface="ヒラギノ角ゴシック W6" pitchFamily="34" charset="0"/>
                <a:ea typeface="ヒラギノ角ゴシック W6" pitchFamily="34" charset="-122"/>
                <a:cs typeface="ヒラギノ角ゴシック W6" pitchFamily="34" charset="-120"/>
              </a:rPr>
              <a:t>東大推薦スコアの妥当性検証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822960" y="32004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ヒラギノ角ゴシック W3" pitchFamily="34" charset="0"/>
                <a:ea typeface="ヒラギノ角ゴシック W3" pitchFamily="34" charset="-122"/>
                <a:cs typeface="ヒラギノ角ゴシック W3" pitchFamily="34" charset="-120"/>
              </a:rPr>
              <a:t>「東大推薦ポテンシャルスコア」は、実際の東大推薦合格を当てられるか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C6663"/>
                </a:solidFill>
                <a:latin typeface="ヒラギノ角ゴシック W3" pitchFamily="34" charset="0"/>
                <a:ea typeface="ヒラギノ角ゴシック W3" pitchFamily="34" charset="-122"/>
                <a:cs typeface="ヒラギノ角ゴシック W3" pitchFamily="34" charset="-120"/>
              </a:rPr>
              <a:t>face validity（属性での見た目の妥当性）→ criterion validity（合否との照合）への格上げ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54406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6457"/>
                </a:solidFill>
                <a:latin typeface="ヒラギノ角ゴシック W6" pitchFamily="34" charset="0"/>
                <a:ea typeface="ヒラギノ角ゴシック W6" pitchFamily="34" charset="-122"/>
                <a:cs typeface="ヒラギノ角ゴシック W6" pitchFamily="34" charset="-120"/>
              </a:rPr>
              <a:t>志作文 AI評価プロジェクト ／ コンテンツ本部 小論文リーダーチーム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58521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663"/>
                </a:solidFill>
                <a:latin typeface="ヒラギノ角ゴシック W3" pitchFamily="34" charset="0"/>
                <a:ea typeface="ヒラギノ角ゴシック W3" pitchFamily="34" charset="-122"/>
                <a:cs typeface="ヒラギノ角ゴシック W3" pitchFamily="34" charset="-120"/>
              </a:rPr>
              <a:t>検証データ：過去答案 n=36（合格19・不合格17）／現役 n=589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E8C7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C2603F"/>
                </a:solidFill>
                <a:latin typeface="ヒラギノ角ゴシック W6" pitchFamily="34" charset="0"/>
                <a:ea typeface="ヒラギノ角ゴシック W6" pitchFamily="34" charset="-122"/>
                <a:cs typeface="ヒラギノ角ゴシック W6" pitchFamily="34" charset="-120"/>
              </a:rPr>
              <a:t>① ROC / AUC ｜ 本命の検証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03504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E6457"/>
                </a:solidFill>
                <a:latin typeface="ヒラギノ角ゴシック W6" pitchFamily="34" charset="0"/>
                <a:ea typeface="ヒラギノ角ゴシック W6" pitchFamily="34" charset="-122"/>
                <a:cs typeface="ヒラギノ角ゴシック W6" pitchFamily="34" charset="-120"/>
              </a:rPr>
              <a:t>実際の合格者を AUC=0.83 で判別できる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11064240" cy="0"/>
          </a:xfrm>
          <a:prstGeom prst="line">
            <a:avLst/>
          </a:prstGeom>
          <a:noFill/>
          <a:ln w="19050">
            <a:solidFill>
              <a:srgbClr val="3E8C7C"/>
            </a:solidFill>
            <a:prstDash val="solid"/>
          </a:ln>
        </p:spPr>
      </p:sp>
      <p:pic>
        <p:nvPicPr>
          <p:cNvPr id="6" name="Image 0" descr="fig1_ro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4800600" cy="4636008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BFBFBF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5669280" y="1691640"/>
            <a:ext cx="6126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6457"/>
                </a:solidFill>
                <a:latin typeface="ヒラギノ角ゴシック W6" pitchFamily="34" charset="0"/>
                <a:ea typeface="ヒラギノ角ゴシック W6" pitchFamily="34" charset="-122"/>
                <a:cs typeface="ヒラギノ角ゴシック W6" pitchFamily="34" charset="-120"/>
              </a:rPr>
              <a:t>AUC = 0.830（95%CI 0.70–0.96／ブートストラップ 0.68–0.94）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ヒラギノ角ゴシック W3" pitchFamily="34" charset="0"/>
                <a:ea typeface="ヒラギノ角ゴシック W3" pitchFamily="34" charset="-122"/>
                <a:cs typeface="ヒラギノ角ゴシック W3" pitchFamily="34" charset="-120"/>
              </a:rPr>
              <a:t>合格者と不合格者を分離（Mann–Whitney p = 7.8×10⁻⁴）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ヒラギノ角ゴシック W3" pitchFamily="34" charset="0"/>
                <a:ea typeface="ヒラギノ角ゴシック W3" pitchFamily="34" charset="-122"/>
                <a:cs typeface="ヒラギノ角ゴシック W3" pitchFamily="34" charset="-120"/>
              </a:rPr>
              <a:t>最適閾値 64点：感度 68%・特異度 88%・的中率 87%・正解率 78%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ヒラギノ角ゴシック W3" pitchFamily="34" charset="0"/>
                <a:ea typeface="ヒラギノ角ゴシック W3" pitchFamily="34" charset="-122"/>
                <a:cs typeface="ヒラギノ角ゴシック W3" pitchFamily="34" charset="-120"/>
              </a:rPr>
              <a:t>高精度運用（85点以上）：特異度 100%・的中率 100%（網羅は限定）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669280" y="4160520"/>
            <a:ext cx="5989320" cy="1783080"/>
          </a:xfrm>
          <a:prstGeom prst="rect">
            <a:avLst/>
          </a:prstGeom>
          <a:solidFill>
            <a:srgbClr val="E7F1EE"/>
          </a:solidFill>
          <a:ln w="12700">
            <a:solidFill>
              <a:srgbClr val="3E8C7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852160" y="4297680"/>
            <a:ext cx="56692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6457"/>
                </a:solidFill>
                <a:latin typeface="ヒラギノ角ゴシック W6" pitchFamily="34" charset="0"/>
                <a:ea typeface="ヒラギノ角ゴシック W6" pitchFamily="34" charset="-122"/>
                <a:cs typeface="ヒラギノ角ゴシック W6" pitchFamily="34" charset="-120"/>
              </a:rPr>
              <a:t>読み方　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ヒラギノ角ゴシック W3" pitchFamily="34" charset="0"/>
                <a:ea typeface="ヒラギノ角ゴシック W3" pitchFamily="34" charset="-122"/>
                <a:cs typeface="ヒラギノ角ゴシック W3" pitchFamily="34" charset="-120"/>
              </a:rPr>
              <a:t>AUC=0.83 は「無作為に選んだ合格者の方が不合格者よりスコアが高い確率が83%」。</a:t>
            </a:r>
            <a:endParaRPr lang="en-US" sz="1300" dirty="0"/>
          </a:p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ヒラギノ角ゴシック W3" pitchFamily="34" charset="0"/>
                <a:ea typeface="ヒラギノ角ゴシック W3" pitchFamily="34" charset="-122"/>
                <a:cs typeface="ヒラギノ角ゴシック W3" pitchFamily="34" charset="-120"/>
              </a:rPr>
              <a:t>属性比較ではなく『実際の合否』そのものを正解ラベルにした、最も直接的な妥当性検証。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6455664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663"/>
                </a:solidFill>
                <a:latin typeface="ヒラギノ角ゴシック W3" pitchFamily="34" charset="0"/>
                <a:ea typeface="ヒラギノ角ゴシック W3" pitchFamily="34" charset="-122"/>
                <a:cs typeface="ヒラギノ角ゴシック W3" pitchFamily="34" charset="-120"/>
              </a:rPr>
              <a:t>出典：過去答案 n=36（合格19/不合格17）。重複答案は最新版を採用。n小につき点推定は高くてもCIは広く、確証には今後のサンプル追加が必要（誠実注記）。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E8C7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C2603F"/>
                </a:solidFill>
                <a:latin typeface="ヒラギノ角ゴシック W6" pitchFamily="34" charset="0"/>
                <a:ea typeface="ヒラギノ角ゴシック W6" pitchFamily="34" charset="-122"/>
                <a:cs typeface="ヒラギノ角ゴシック W6" pitchFamily="34" charset="-120"/>
              </a:rPr>
              <a:t>② 増分妥当性 ｜ 循環論法の排除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03504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E6457"/>
                </a:solidFill>
                <a:latin typeface="ヒラギノ角ゴシック W6" pitchFamily="34" charset="0"/>
                <a:ea typeface="ヒラギノ角ゴシック W6" pitchFamily="34" charset="-122"/>
                <a:cs typeface="ヒラギノ角ゴシック W6" pitchFamily="34" charset="-120"/>
              </a:rPr>
              <a:t>作文スコアを「超えて」合否を予測する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11064240" cy="0"/>
          </a:xfrm>
          <a:prstGeom prst="line">
            <a:avLst/>
          </a:prstGeom>
          <a:noFill/>
          <a:ln w="19050">
            <a:solidFill>
              <a:srgbClr val="3E8C7C"/>
            </a:solidFill>
            <a:prstDash val="solid"/>
          </a:ln>
        </p:spPr>
      </p:sp>
      <p:pic>
        <p:nvPicPr>
          <p:cNvPr id="6" name="Image 0" descr="fig2_increme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783080"/>
            <a:ext cx="5394960" cy="3438144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BFBFBF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6126480" y="1691640"/>
            <a:ext cx="56692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E6457"/>
                </a:solidFill>
                <a:latin typeface="ヒラギノ角ゴシック W6" pitchFamily="34" charset="0"/>
                <a:ea typeface="ヒラギノ角ゴシック W6" pitchFamily="34" charset="-122"/>
                <a:cs typeface="ヒラギノ角ゴシック W6" pitchFamily="34" charset="-120"/>
              </a:rPr>
              <a:t>東大スコアは作文スコアを超えて合否を上乗せ予測：尤度比検定 χ²(1)=6.0, p=0.014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ヒラギノ角ゴシック W3" pitchFamily="34" charset="0"/>
                <a:ea typeface="ヒラギノ角ゴシック W3" pitchFamily="34" charset="-122"/>
                <a:cs typeface="ヒラギノ角ゴシック W3" pitchFamily="34" charset="-120"/>
              </a:rPr>
              <a:t>逆に、作文スコアは東大スコアを超える上乗せ予測なし：χ²(1)=2.4, p=0.124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ヒラギノ角ゴシック W3" pitchFamily="34" charset="0"/>
                <a:ea typeface="ヒラギノ角ゴシック W3" pitchFamily="34" charset="-122"/>
                <a:cs typeface="ヒラギノ角ゴシック W3" pitchFamily="34" charset="-120"/>
              </a:rPr>
              <a:t>汎化性能(LOO交差検証) AUC：東大スコア 0.79 ＞ 作文スコア 0.55（ほぼ偶然）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126480" y="3977640"/>
            <a:ext cx="5532120" cy="1920240"/>
          </a:xfrm>
          <a:prstGeom prst="rect">
            <a:avLst/>
          </a:prstGeom>
          <a:solidFill>
            <a:srgbClr val="E7F1EE"/>
          </a:solidFill>
          <a:ln w="12700">
            <a:solidFill>
              <a:srgbClr val="3E8C7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309360" y="4114800"/>
            <a:ext cx="52120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6457"/>
                </a:solidFill>
                <a:latin typeface="ヒラギノ角ゴシック W6" pitchFamily="34" charset="0"/>
                <a:ea typeface="ヒラギノ角ゴシック W6" pitchFamily="34" charset="-122"/>
                <a:cs typeface="ヒラギノ角ゴシック W6" pitchFamily="34" charset="-120"/>
              </a:rPr>
              <a:t>なぜ重要か　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ヒラギノ角ゴシック W3" pitchFamily="34" charset="0"/>
                <a:ea typeface="ヒラギノ角ゴシック W3" pitchFamily="34" charset="-122"/>
                <a:cs typeface="ヒラギノ角ゴシック W3" pitchFamily="34" charset="-120"/>
              </a:rPr>
              <a:t>東大スコアは作文スコアと相関0.78。「単なる作文点の言い換え」なら妥当性の証明にならない。</a:t>
            </a:r>
            <a:endParaRPr lang="en-US" sz="1300" dirty="0"/>
          </a:p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ヒラギノ角ゴシック W3" pitchFamily="34" charset="0"/>
                <a:ea typeface="ヒラギノ角ゴシック W3" pitchFamily="34" charset="-122"/>
                <a:cs typeface="ヒラギノ角ゴシック W3" pitchFamily="34" charset="-120"/>
              </a:rPr>
              <a:t>本検証は、作文点を統計的に差し引いてもなお合否を予測する=東大推薦に固有のシグナルを捉えていることを示す。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6455664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663"/>
                </a:solidFill>
                <a:latin typeface="ヒラギノ角ゴシック W3" pitchFamily="34" charset="0"/>
                <a:ea typeface="ヒラギノ角ゴシック W3" pitchFamily="34" charset="-122"/>
                <a:cs typeface="ヒラギノ角ゴシック W3" pitchFamily="34" charset="-120"/>
              </a:rPr>
              <a:t>出典：過去答案 n=36。ロジスティック回帰（合否～東大スコア／作文スコア／両方）。LOOは leave-one-out 交差検証AUC。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E8C7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C2603F"/>
                </a:solidFill>
                <a:latin typeface="ヒラギノ角ゴシック W6" pitchFamily="34" charset="0"/>
                <a:ea typeface="ヒラギノ角ゴシック W6" pitchFamily="34" charset="-122"/>
                <a:cs typeface="ヒラギノ角ゴシック W6" pitchFamily="34" charset="-120"/>
              </a:rPr>
              <a:t>③ 交絡調整 ｜ 属性差の正体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03504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E6457"/>
                </a:solidFill>
                <a:latin typeface="ヒラギノ角ゴシック W6" pitchFamily="34" charset="0"/>
                <a:ea typeface="ヒラギノ角ゴシック W6" pitchFamily="34" charset="-122"/>
                <a:cs typeface="ヒラギノ角ゴシック W6" pitchFamily="34" charset="-120"/>
              </a:rPr>
              <a:t>属性差（学年・校舎等）は概ね『作文力』で説明できる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11064240" cy="0"/>
          </a:xfrm>
          <a:prstGeom prst="line">
            <a:avLst/>
          </a:prstGeom>
          <a:noFill/>
          <a:ln w="19050">
            <a:solidFill>
              <a:srgbClr val="3E8C7C"/>
            </a:solidFill>
            <a:prstDash val="solid"/>
          </a:ln>
        </p:spPr>
      </p:sp>
      <p:pic>
        <p:nvPicPr>
          <p:cNvPr id="6" name="Image 0" descr="fig3_confou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783080"/>
            <a:ext cx="5440680" cy="3529584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BFBFBF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6172200" y="1645920"/>
            <a:ext cx="557784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E6457"/>
                </a:solidFill>
                <a:latin typeface="ヒラギノ角ゴシック W6" pitchFamily="34" charset="0"/>
                <a:ea typeface="ヒラギノ角ゴシック W6" pitchFamily="34" charset="-122"/>
                <a:cs typeface="ヒラギノ角ゴシック W6" pitchFamily="34" charset="-120"/>
              </a:rPr>
              <a:t>作文AIスコアを統制すると、学年・高校ランク・校舎の差は大きく縮小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ヒラギノ角ゴシック W3" pitchFamily="34" charset="0"/>
                <a:ea typeface="ヒラギノ角ゴシック W3" pitchFamily="34" charset="-122"/>
                <a:cs typeface="ヒラギノ角ゴシック W3" pitchFamily="34" charset="-120"/>
              </a:rPr>
              <a:t>学年：偏相関 0.28→0.10／高校ランク：0.07→0.03／校舎(早稲田塾) 生差+17点→統制後ほぼ0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ヒラギノ角ゴシック W3" pitchFamily="34" charset="0"/>
                <a:ea typeface="ヒラギノ角ゴシック W3" pitchFamily="34" charset="-122"/>
                <a:cs typeface="ヒラギノ角ゴシック W3" pitchFamily="34" charset="-120"/>
              </a:rPr>
              <a:t>決め手：同じ属性が「作文スコア」を予測するβ(+0.285)と「東大スコア」を予測するβ(+0.278)はほぼ同一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172200" y="4114800"/>
            <a:ext cx="5486400" cy="1783080"/>
          </a:xfrm>
          <a:prstGeom prst="rect">
            <a:avLst/>
          </a:prstGeom>
          <a:solidFill>
            <a:srgbClr val="E7F1EE"/>
          </a:solidFill>
          <a:ln w="12700">
            <a:solidFill>
              <a:srgbClr val="3E8C7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355080" y="4251960"/>
            <a:ext cx="5166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6457"/>
                </a:solidFill>
                <a:latin typeface="ヒラギノ角ゴシック W6" pitchFamily="34" charset="0"/>
                <a:ea typeface="ヒラギノ角ゴシック W6" pitchFamily="34" charset="-122"/>
                <a:cs typeface="ヒラギノ角ゴシック W6" pitchFamily="34" charset="-120"/>
              </a:rPr>
              <a:t>結論　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ヒラギノ角ゴシック W3" pitchFamily="34" charset="0"/>
                <a:ea typeface="ヒラギノ角ゴシック W3" pitchFamily="34" charset="-122"/>
                <a:cs typeface="ヒラギノ角ゴシック W3" pitchFamily="34" charset="-120"/>
              </a:rPr>
              <a:t>「高3が高い」「早稲田塾が高い」等の属性差は、その層が作文を上手く書くことの反映。</a:t>
            </a:r>
            <a:endParaRPr lang="en-US" sz="1300" dirty="0"/>
          </a:p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ヒラギノ角ゴシック W3" pitchFamily="34" charset="0"/>
                <a:ea typeface="ヒラギノ角ゴシック W3" pitchFamily="34" charset="-122"/>
                <a:cs typeface="ヒラギノ角ゴシック W3" pitchFamily="34" charset="-120"/>
              </a:rPr>
              <a:t>＝属性比較だけでは妥当性を示せない。だからこそ①②（合否との直接照合）が本命となる。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6455664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663"/>
                </a:solidFill>
                <a:latin typeface="ヒラギノ角ゴシック W3" pitchFamily="34" charset="0"/>
                <a:ea typeface="ヒラギノ角ゴシック W3" pitchFamily="34" charset="-122"/>
                <a:cs typeface="ヒラギノ角ゴシック W3" pitchFamily="34" charset="-120"/>
              </a:rPr>
              <a:t>出典：現役 n=582（学年589・高校ランク582・校舎374で実施）。性別は提供データに無し。偏相関は作文AIスコアを共変量に統制。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E64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2603F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E7F1EE"/>
                </a:solidFill>
                <a:latin typeface="ヒラギノ角ゴシック W6" pitchFamily="34" charset="0"/>
                <a:ea typeface="ヒラギノ角ゴシック W6" pitchFamily="34" charset="-122"/>
                <a:cs typeface="ヒラギノ角ゴシック W6" pitchFamily="34" charset="-120"/>
              </a:rPr>
              <a:t>結論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106070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ヒラギノ角ゴシック W6" pitchFamily="34" charset="0"/>
                <a:ea typeface="ヒラギノ角ゴシック W6" pitchFamily="34" charset="-122"/>
                <a:cs typeface="ヒラギノ角ゴシック W6" pitchFamily="34" charset="-120"/>
              </a:rPr>
              <a:t>東大推薦スコアは、実際の合格者を AUC=0.83 で判別する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68680" y="2926080"/>
            <a:ext cx="10515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ヒラギノ角ゴシック W3" pitchFamily="34" charset="0"/>
                <a:ea typeface="ヒラギノ角ゴシック W3" pitchFamily="34" charset="-122"/>
                <a:cs typeface="ヒラギノ角ゴシック W3" pitchFamily="34" charset="-120"/>
              </a:rPr>
              <a:t>・ 過去の実合否で AUC=0.83（95%CI 0.70–0.96）。最適閾値で特異度88%・的中率87%。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ヒラギノ角ゴシック W3" pitchFamily="34" charset="0"/>
                <a:ea typeface="ヒラギノ角ゴシック W3" pitchFamily="34" charset="-122"/>
                <a:cs typeface="ヒラギノ角ゴシック W3" pitchFamily="34" charset="-120"/>
              </a:rPr>
              <a:t>・ 作文スコアを統計的に差し引いてもなお合否を上乗せ予測（p=0.014）。単なる作文点ではない。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ヒラギノ角ゴシック W3" pitchFamily="34" charset="0"/>
                <a:ea typeface="ヒラギノ角ゴシック W3" pitchFamily="34" charset="-122"/>
                <a:cs typeface="ヒラギノ角ゴシック W3" pitchFamily="34" charset="-120"/>
              </a:rPr>
              <a:t>・ 属性差（学年・校舎等）の正体は概ね作文力。本指標は合否に固有のシグナルを捉えている。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" y="5532120"/>
            <a:ext cx="10515600" cy="822960"/>
          </a:xfrm>
          <a:prstGeom prst="rect">
            <a:avLst/>
          </a:prstGeom>
          <a:solidFill>
            <a:srgbClr val="3E8C7C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5605272"/>
            <a:ext cx="10149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ヒラギノ角ゴシック W3" pitchFamily="34" charset="0"/>
                <a:ea typeface="ヒラギノ角ゴシック W3" pitchFamily="34" charset="-122"/>
                <a:cs typeface="ヒラギノ角ゴシック W3" pitchFamily="34" charset="-120"/>
              </a:rPr>
              <a:t>誠実注記：過去検証は n=36 と小規模。点推定は高いが信頼区間は広く、確証には今後の合否サンプル追加で再検証する。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2026-06-25T13:25:59Z</dcterms:created>
  <dcterms:modified xsi:type="dcterms:W3CDTF">2026-06-25T13:25:59Z</dcterms:modified>
</cp:coreProperties>
</file>