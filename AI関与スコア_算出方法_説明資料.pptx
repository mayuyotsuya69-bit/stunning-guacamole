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3810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3810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3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AI関与スコア　算出方法 説明資料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作文が生成AIで書かれた可能性を、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どのように判定しているか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社長決裁資料　／　2026年6月15日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位置づけ：参考指標（断定ではなく、人による最終判断を前提とする）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46304" cy="566928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結論 — 何を、どう判定しているか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11384280" cy="2794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989320" cy="5074920"/>
          </a:xfrm>
          <a:prstGeom prst="rect">
            <a:avLst/>
          </a:prstGeom>
          <a:solidFill>
            <a:srgbClr val="F1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5778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結論（要点）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① 「AIが書いたか／自分で考えたか」を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断定するものではありません。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“丸写しの可能性”を 0〜100 で示す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参考指標です。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② 統計式や検出器による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機械的な計算ではありません。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判定用の生成AI（LLM）が、全作文を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同一の基準で読み、点数を付けています。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③ 見ているのは次の3点です。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・本人の体験・実感・固有性が見えるか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・文章が整いすぎていないか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・AI特有の抽象論や定型表現、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　均質な構成が続いていないか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スコアの意味（0〜100の整数）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874519"/>
            <a:ext cx="1645920" cy="658368"/>
          </a:xfrm>
          <a:prstGeom prst="rect">
            <a:avLst/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1645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0〜30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874519"/>
            <a:ext cx="3337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書き写した可能性は低い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624327"/>
            <a:ext cx="1645920" cy="658368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624327"/>
            <a:ext cx="1645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31〜60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24327"/>
            <a:ext cx="3337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一部参考にした／判定困難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374135"/>
            <a:ext cx="1645920" cy="658368"/>
          </a:xfrm>
          <a:prstGeom prst="rect">
            <a:avLst/>
          </a:prstGeom>
          <a:solidFill>
            <a:srgbClr val="C2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374135"/>
            <a:ext cx="1645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61〜80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374135"/>
            <a:ext cx="3337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可能性がやや高い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123943"/>
            <a:ext cx="1645920" cy="658368"/>
          </a:xfrm>
          <a:prstGeom prst="rect">
            <a:avLst/>
          </a:prstGeom>
          <a:solidFill>
            <a:srgbClr val="B3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123943"/>
            <a:ext cx="1645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81〜100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123943"/>
            <a:ext cx="3337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可能性が高い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029200"/>
            <a:ext cx="5120640" cy="1371600"/>
          </a:xfrm>
          <a:prstGeom prst="rect">
            <a:avLst/>
          </a:prstGeom>
          <a:solidFill>
            <a:srgbClr val="E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5166360"/>
            <a:ext cx="46634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運用方針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迷う場合は 40〜60 に寄せます。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0〜10 や 90〜100 の極端な値は、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明確な根拠が複数そろう場合のみ使用します。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46304" cy="566928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判定の仕組み — どう点数を出しているか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11384280" cy="2794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514600" cy="1051560"/>
          </a:xfrm>
          <a:prstGeom prst="rect">
            <a:avLst/>
          </a:prstGeom>
          <a:solidFill>
            <a:srgbClr val="E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作文（手書き）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08760"/>
            <a:ext cx="4572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08760"/>
            <a:ext cx="2514600" cy="1051560"/>
          </a:xfrm>
          <a:prstGeom prst="rect">
            <a:avLst/>
          </a:prstGeom>
          <a:solidFill>
            <a:srgbClr val="E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テキスト化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4572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508760"/>
            <a:ext cx="2514600" cy="1051560"/>
          </a:xfrm>
          <a:prstGeom prst="rect">
            <a:avLst/>
          </a:prstGeom>
          <a:solidFill>
            <a:srgbClr val="E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判定用AI（LLM）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＋評価基準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508760"/>
            <a:ext cx="4572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508760"/>
            <a:ext cx="2514600" cy="105156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508760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スコア 0〜100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＋根拠3点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11201400" cy="3291840"/>
          </a:xfrm>
          <a:prstGeom prst="rect">
            <a:avLst/>
          </a:prstGeom>
          <a:solidFill>
            <a:srgbClr val="F1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10698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この仕組みの性質（社長への説明ポイント）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●　スコアは採点者役のAIの“判断”であり、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　固定の計算式から自動算出される値ではありません。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●　判断が人や日によってブレないよう、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　評価の観点・各スコア帯の定義・禁止事項を文章で細かく固定しています。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　　→「全員を同じ物差しで読む」ことを担保しています。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●　同じ作文でも判定は多少揺れ得るため、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　確定値ではなく“目安”として扱います。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46304" cy="566928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評価の3つの軸 — AIは何を見ているか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11384280" cy="2794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703320" cy="54864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A. 具体性・本人性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703320" cy="2240280"/>
          </a:xfrm>
          <a:prstGeom prst="rect">
            <a:avLst/>
          </a:prstGeom>
          <a:solidFill>
            <a:srgbClr val="F1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34290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2E7D57"/>
                </a:solidFill>
                <a:latin typeface="ヒラギノ角ゴ ProN W6"/>
                <a:ea typeface="ヒラギノ角ゴ ProN W6"/>
                <a:cs typeface="ヒラギノ角ゴ ProN W6"/>
              </a:rPr>
              <a:t>人間らしい → 可能性は低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・経験・失敗・迷いの記述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・部活／家族／友人／地域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・固有名詞・具体的な場面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3703320" cy="2240280"/>
          </a:xfrm>
          <a:prstGeom prst="rect">
            <a:avLst/>
          </a:prstGeom>
          <a:solidFill>
            <a:srgbClr val="E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416552"/>
            <a:ext cx="34290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B33A2E"/>
                </a:solidFill>
                <a:latin typeface="ヒラギノ角ゴ ProN W6"/>
                <a:ea typeface="ヒラギノ角ゴ ProN W6"/>
                <a:cs typeface="ヒラギノ角ゴ ProN W6"/>
              </a:rPr>
              <a:t>AIらしい → 可能性は高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・一般論・大きな主語ばかり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・どの生徒でも書ける内容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・体験が抽象的で場面が不明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703320" cy="54864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7160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B. 文体・語彙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965960"/>
            <a:ext cx="3703320" cy="2240280"/>
          </a:xfrm>
          <a:prstGeom prst="rect">
            <a:avLst/>
          </a:prstGeom>
          <a:solidFill>
            <a:srgbClr val="F1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84832"/>
            <a:ext cx="34290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2E7D57"/>
                </a:solidFill>
                <a:latin typeface="ヒラギノ角ゴ ProN W6"/>
                <a:ea typeface="ヒラギノ角ゴ ProN W6"/>
                <a:cs typeface="ヒラギノ角ゴ ProN W6"/>
              </a:rPr>
              <a:t>人間らしい → 可能性は低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・高校生らしい自然な言い回し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・文の長さにばらつき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・感情や言い直しの揺れ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297680"/>
            <a:ext cx="3703320" cy="2240280"/>
          </a:xfrm>
          <a:prstGeom prst="rect">
            <a:avLst/>
          </a:prstGeom>
          <a:solidFill>
            <a:srgbClr val="E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416552"/>
            <a:ext cx="34290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B33A2E"/>
                </a:solidFill>
                <a:latin typeface="ヒラギノ角ゴ ProN W6"/>
                <a:ea typeface="ヒラギノ角ゴ ProN W6"/>
                <a:cs typeface="ヒラギノ角ゴ ProN W6"/>
              </a:rPr>
              <a:t>AIらしい → 可能性は高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・均質すぎる文体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・「〜が重要である」等の定型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・不自然に硬い抽象語の多用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371600"/>
            <a:ext cx="3703320" cy="54864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37160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C. 構成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965960"/>
            <a:ext cx="3703320" cy="2240280"/>
          </a:xfrm>
          <a:prstGeom prst="rect">
            <a:avLst/>
          </a:prstGeom>
          <a:solidFill>
            <a:srgbClr val="F1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084832"/>
            <a:ext cx="34290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2E7D57"/>
                </a:solidFill>
                <a:latin typeface="ヒラギノ角ゴ ProN W6"/>
                <a:ea typeface="ヒラギノ角ゴ ProN W6"/>
                <a:cs typeface="ヒラギノ角ゴ ProN W6"/>
              </a:rPr>
              <a:t>人間らしい → 可能性は低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・多少の偏り・寄り道がある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・段落ごとに熱量差がある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・本人の考えの流れが見える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297680"/>
            <a:ext cx="3703320" cy="2240280"/>
          </a:xfrm>
          <a:prstGeom prst="rect">
            <a:avLst/>
          </a:prstGeom>
          <a:solidFill>
            <a:srgbClr val="E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4416552"/>
            <a:ext cx="34290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B33A2E"/>
                </a:solidFill>
                <a:latin typeface="ヒラギノ角ゴ ProN W6"/>
                <a:ea typeface="ヒラギノ角ゴ ProN W6"/>
                <a:cs typeface="ヒラギノ角ゴ ProN W6"/>
              </a:rPr>
              <a:t>AIらしい → 可能性は高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・整いすぎた序論・本論・結論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・機械的な整理（第一に…）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・模範解答的すぎる結び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46304" cy="566928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誤判定を防ぐルールと、この指標の限界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11384280" cy="2794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669280" cy="50292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公平性の担保（高スコアにしないルール）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01952"/>
            <a:ext cx="5669280" cy="4480560"/>
          </a:xfrm>
          <a:prstGeom prst="rect">
            <a:avLst/>
          </a:prstGeom>
          <a:solidFill>
            <a:srgbClr val="F1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257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単独の特徴だけでは高スコアにしません。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・「手書きだから人間」とは判断しない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・「誤字脱字があるから人間」と単独で判断しない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・「文章が上手いからAI」とは判断しない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・「構成が整っているからAI」と単独で判断しない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・1つの特徴だけで極端なスコアにしない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・「AIが書いた」と断定的に表現しない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高スコアは複数の根拠がそろう場合のみ。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（具体的体験がほぼない・抽象論が続く・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定型表現が多い・整いすぎ などが同時）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00" cy="50292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ヒラギノ角ゴ ProN W6"/>
                <a:ea typeface="ヒラギノ角ゴ ProN W6"/>
                <a:cs typeface="ヒラギノ角ゴ ProN W6"/>
              </a:rPr>
              <a:t>この指標の限界（必ず共有）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01952"/>
            <a:ext cx="5486400" cy="4480560"/>
          </a:xfrm>
          <a:prstGeom prst="rect">
            <a:avLst/>
          </a:prstGeom>
          <a:solidFill>
            <a:srgbClr val="E2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●　断定ではなく“可能性”の参考値です。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　　最終判断は必ず人が行います。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●　AI判定のため、同じ作文でも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　スコアが多少揺れることがあります。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●　文章力が高い生徒を過剰に疑わない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　設計ですが、誤判定を完全には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　排除できません。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●　高スコアの作文は「クロ」ではなく、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　　「人による確認を優先すべき作文」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　　と位置づけます。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46304" cy="566928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>
                <a:solidFill>
                  <a:srgbClr val="1A1A1A"/>
                </a:solidFill>
                <a:latin typeface="ヒラギノ角ゴ ProN W6"/>
                <a:ea typeface="ヒラギノ角ゴ ProN W6"/>
                <a:cs typeface="ヒラギノ角ゴ ProN W6"/>
              </a:rPr>
              <a:t>想定問答 — 社長質問への回答案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11384280" cy="2794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84280" cy="2540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Q. どうやってAIが書いたか／自分で考えたかを判断しているのか？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A. 専用の生成AIに全作文を同一基準で読ませ、「本人の体験が見えるか」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「整いすぎていないか」「AI特有の定型表現や均質な構成が続いていないか」の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3観点から、0〜100のスコアと根拠3点を出力します。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機械的な計算ではなく、基準を固定した採点者（AI）による見立てです。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044952"/>
            <a:ext cx="11384280" cy="2540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18104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Q. 文章がうまい生徒を、AI扱いしてしまわないか？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A. 「上手い・整っている・誤字が少ない」といった単独の特徴だけでは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高スコアにしないルールを明示しています。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高スコアになるのは、複数の根拠がそろった場合のみです。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718304"/>
            <a:ext cx="11384280" cy="25400"/>
          </a:xfrm>
          <a:prstGeom prst="rect">
            <a:avLst/>
          </a:prstGeom>
          <a:solidFill>
            <a:srgbClr val="3E8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91456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3E8C7C"/>
                </a:solidFill>
                <a:latin typeface="ヒラギノ角ゴ ProN W6"/>
                <a:ea typeface="ヒラギノ角ゴ ProN W6"/>
                <a:cs typeface="ヒラギノ角ゴ ProN W6"/>
              </a:rPr>
              <a:t>Q. このスコアで処分や合否を決めてよいか？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85232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A. いいえ。スクリーニング用の参考指標です。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高スコアの作文を抽出し、最終的には根拠と原文を人が確認して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1A1A1A"/>
                </a:solidFill>
                <a:latin typeface="ヒラギノ角ゴ ProN W3"/>
                <a:ea typeface="ヒラギノ角ゴ ProN W3"/>
                <a:cs typeface="ヒラギノ角ゴ ProN W3"/>
              </a:rPr>
              <a:t>　 判断する運用を想定しています。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