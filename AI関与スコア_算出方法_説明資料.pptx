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31720"/>
            <a:ext cx="12191695" cy="210312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698480" cy="1828800"/>
          </a:xfrm>
          <a:prstGeom prst="rect">
            <a:avLst/>
          </a:prstGeom>
          <a:noFill/>
        </p:spPr>
        <p:txBody>
          <a:bodyPr wrap="none" anchor="ctr">
            <a:spAutoFit/>
          </a:bodyPr>
          <a:lstStyle/>
          <a:p>
            <a:pPr algn="ctr"/>
            <a:r>
              <a:rPr sz="4000" b="1">
                <a:solidFill>
                  <a:srgbClr val="FFFFFF"/>
                </a:solidFill>
                <a:latin typeface="Meiryo"/>
              </a:rPr>
              <a:t>AI関与スコア　算出方法 説明資料</a:t>
            </a:r>
          </a:p>
          <a:p>
            <a:pPr algn="ctr"/>
            <a:r>
              <a:rPr sz="2000" b="0">
                <a:solidFill>
                  <a:srgbClr val="FFFFFF"/>
                </a:solidFill>
                <a:latin typeface="Meiryo"/>
              </a:rPr>
              <a:t>― 作文が生成AIで書かれた可能性を、どう判定しているか ―</a:t>
            </a:r>
          </a:p>
        </p:txBody>
      </p:sp>
      <p:sp>
        <p:nvSpPr>
          <p:cNvPr id="5" name="TextBox 4"/>
          <p:cNvSpPr txBox="1"/>
          <p:nvPr/>
        </p:nvSpPr>
        <p:spPr>
          <a:xfrm>
            <a:off x="731520" y="5669280"/>
            <a:ext cx="10698480" cy="731520"/>
          </a:xfrm>
          <a:prstGeom prst="rect">
            <a:avLst/>
          </a:prstGeom>
          <a:noFill/>
        </p:spPr>
        <p:txBody>
          <a:bodyPr wrap="none">
            <a:spAutoFit/>
          </a:bodyPr>
          <a:lstStyle/>
          <a:p>
            <a:pPr algn="ctr"/>
            <a:r>
              <a:rPr sz="1400" b="0">
                <a:solidFill>
                  <a:srgbClr val="CFD8E8"/>
                </a:solidFill>
                <a:latin typeface="Meiryo"/>
              </a:rPr>
              <a:t>2026年6月15日　／　経営層向け報告　／　位置づけ：参考指標（断定ではない）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結論（先に要点）</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2</a:t>
            </a:r>
          </a:p>
        </p:txBody>
      </p:sp>
      <p:sp>
        <p:nvSpPr>
          <p:cNvPr id="6" name="TextBox 5"/>
          <p:cNvSpPr txBox="1"/>
          <p:nvPr/>
        </p:nvSpPr>
        <p:spPr>
          <a:xfrm>
            <a:off x="640080" y="1325880"/>
            <a:ext cx="10881360" cy="5120640"/>
          </a:xfrm>
          <a:prstGeom prst="rect">
            <a:avLst/>
          </a:prstGeom>
          <a:noFill/>
        </p:spPr>
        <p:txBody>
          <a:bodyPr wrap="square">
            <a:spAutoFit/>
          </a:bodyPr>
          <a:lstStyle/>
          <a:p>
            <a:pPr>
              <a:spcAft>
                <a:spcPts val="800"/>
              </a:spcAft>
            </a:pPr>
            <a:r>
              <a:rPr sz="1800" b="1">
                <a:solidFill>
                  <a:srgbClr val="1F335E"/>
                </a:solidFill>
                <a:latin typeface="Meiryo"/>
              </a:rPr>
              <a:t>● 「AIが書いたか／自分で考えたか」を断定するものではありません。</a:t>
            </a:r>
          </a:p>
          <a:p>
            <a:pPr lvl="1">
              <a:spcAft>
                <a:spcPts val="800"/>
              </a:spcAft>
            </a:pPr>
            <a:r>
              <a:rPr sz="1600" b="0">
                <a:solidFill>
                  <a:srgbClr val="555555"/>
                </a:solidFill>
                <a:latin typeface="Meiryo"/>
              </a:rPr>
              <a:t>－ 生成AIへの「丸写し・大部分の写し」の“可能性の高さ”を 0〜100 で示す参考指標です。</a:t>
            </a:r>
          </a:p>
          <a:p>
            <a:pPr>
              <a:spcAft>
                <a:spcPts val="800"/>
              </a:spcAft>
            </a:pPr>
            <a:r>
              <a:rPr sz="1800" b="1">
                <a:solidFill>
                  <a:srgbClr val="1F335E"/>
                </a:solidFill>
                <a:latin typeface="Meiryo"/>
              </a:rPr>
              <a:t>● 数値は統計式や検出器による機械的な計算ではありません。</a:t>
            </a:r>
          </a:p>
          <a:p>
            <a:pPr lvl="1">
              <a:spcAft>
                <a:spcPts val="800"/>
              </a:spcAft>
            </a:pPr>
            <a:r>
              <a:rPr sz="1600" b="0">
                <a:solidFill>
                  <a:srgbClr val="555555"/>
                </a:solidFill>
                <a:latin typeface="Meiryo"/>
              </a:rPr>
              <a:t>－ 判定用の生成AI（LLM）が、各作文を“同一の評価基準”で読み、点数を付けています。</a:t>
            </a:r>
          </a:p>
          <a:p>
            <a:pPr lvl="1">
              <a:spcAft>
                <a:spcPts val="800"/>
              </a:spcAft>
            </a:pPr>
            <a:r>
              <a:rPr sz="1600" b="0">
                <a:solidFill>
                  <a:srgbClr val="555555"/>
                </a:solidFill>
                <a:latin typeface="Meiryo"/>
              </a:rPr>
              <a:t>－ ＝「採点ルールを固定した採点者（AI）に、全員分を同じ物差しで読ませている」仕組み。</a:t>
            </a:r>
          </a:p>
          <a:p>
            <a:pPr>
              <a:spcAft>
                <a:spcPts val="800"/>
              </a:spcAft>
            </a:pPr>
            <a:r>
              <a:rPr sz="1800" b="1">
                <a:solidFill>
                  <a:srgbClr val="1F335E"/>
                </a:solidFill>
                <a:latin typeface="Meiryo"/>
              </a:rPr>
              <a:t>● 判定の核心は、次の3点を見ていることです。</a:t>
            </a:r>
          </a:p>
          <a:p>
            <a:pPr lvl="1">
              <a:spcAft>
                <a:spcPts val="800"/>
              </a:spcAft>
            </a:pPr>
            <a:r>
              <a:rPr sz="1600" b="1">
                <a:solidFill>
                  <a:srgbClr val="2E5CA6"/>
                </a:solidFill>
                <a:latin typeface="Meiryo"/>
              </a:rPr>
              <a:t>－ ① 本人の体験・実感・固有性が見えるか</a:t>
            </a:r>
          </a:p>
          <a:p>
            <a:pPr lvl="1">
              <a:spcAft>
                <a:spcPts val="800"/>
              </a:spcAft>
            </a:pPr>
            <a:r>
              <a:rPr sz="1600" b="1">
                <a:solidFill>
                  <a:srgbClr val="2E5CA6"/>
                </a:solidFill>
                <a:latin typeface="Meiryo"/>
              </a:rPr>
              <a:t>－ ② 文章が整いすぎていないか</a:t>
            </a:r>
          </a:p>
          <a:p>
            <a:pPr lvl="1">
              <a:spcAft>
                <a:spcPts val="800"/>
              </a:spcAft>
            </a:pPr>
            <a:r>
              <a:rPr sz="1600" b="1">
                <a:solidFill>
                  <a:srgbClr val="2E5CA6"/>
                </a:solidFill>
                <a:latin typeface="Meiryo"/>
              </a:rPr>
              <a:t>－ ③ AI特有の抽象論・定型表現・均質な構成が続いていないか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1. 目的</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3</a:t>
            </a:r>
          </a:p>
        </p:txBody>
      </p:sp>
      <p:sp>
        <p:nvSpPr>
          <p:cNvPr id="6" name="TextBox 5"/>
          <p:cNvSpPr txBox="1"/>
          <p:nvPr/>
        </p:nvSpPr>
        <p:spPr>
          <a:xfrm>
            <a:off x="640080" y="1463040"/>
            <a:ext cx="10881360" cy="5120640"/>
          </a:xfrm>
          <a:prstGeom prst="rect">
            <a:avLst/>
          </a:prstGeom>
          <a:noFill/>
        </p:spPr>
        <p:txBody>
          <a:bodyPr wrap="square">
            <a:spAutoFit/>
          </a:bodyPr>
          <a:lstStyle/>
          <a:p>
            <a:pPr>
              <a:spcAft>
                <a:spcPts val="800"/>
              </a:spcAft>
            </a:pPr>
            <a:r>
              <a:rPr sz="1800" b="1">
                <a:solidFill>
                  <a:srgbClr val="1F335E"/>
                </a:solidFill>
                <a:latin typeface="Meiryo"/>
              </a:rPr>
              <a:t>● 手書き提出の作文について、生成AI（ChatGPT等）の文章を「そのまま／大部分写している可能性」を見立てる指標。</a:t>
            </a:r>
          </a:p>
          <a:p>
            <a:pPr>
              <a:spcAft>
                <a:spcPts val="800"/>
              </a:spcAft>
            </a:pPr>
            <a:r>
              <a:rPr sz="1800" b="0">
                <a:solidFill>
                  <a:srgbClr val="555555"/>
                </a:solidFill>
                <a:latin typeface="Meiryo"/>
              </a:rPr>
              <a:t>● 手書きであること自体は、人間が書いた根拠として扱いません。</a:t>
            </a:r>
          </a:p>
          <a:p>
            <a:pPr lvl="1">
              <a:spcAft>
                <a:spcPts val="800"/>
              </a:spcAft>
            </a:pPr>
            <a:r>
              <a:rPr sz="1600" b="0">
                <a:solidFill>
                  <a:srgbClr val="555555"/>
                </a:solidFill>
                <a:latin typeface="Meiryo"/>
              </a:rPr>
              <a:t>－ 手書きでもAI出力を写すことは可能なため。</a:t>
            </a:r>
          </a:p>
          <a:p>
            <a:pPr>
              <a:spcAft>
                <a:spcPts val="800"/>
              </a:spcAft>
            </a:pPr>
            <a:r>
              <a:rPr sz="1800" b="0">
                <a:solidFill>
                  <a:srgbClr val="555555"/>
                </a:solidFill>
                <a:latin typeface="Meiryo"/>
              </a:rPr>
              <a:t>● 判定対象は、文章の「内容・構成・語彙・表現」のみ。</a:t>
            </a:r>
          </a:p>
          <a:p>
            <a:pPr>
              <a:spcAft>
                <a:spcPts val="800"/>
              </a:spcAft>
            </a:pPr>
            <a:r>
              <a:rPr sz="1800" b="1">
                <a:solidFill>
                  <a:srgbClr val="B32A2A"/>
                </a:solidFill>
                <a:latin typeface="Meiryo"/>
              </a:rPr>
              <a:t>● 目的はスクリーニング（要確認の作文を見つけること）。最終判断は人が行う前提。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2. スコアの意味（0〜100の整数）</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4</a:t>
            </a:r>
          </a:p>
        </p:txBody>
      </p:sp>
      <p:sp>
        <p:nvSpPr>
          <p:cNvPr id="6" name="Rectangle 5"/>
          <p:cNvSpPr/>
          <p:nvPr/>
        </p:nvSpPr>
        <p:spPr>
          <a:xfrm>
            <a:off x="640080" y="1463040"/>
            <a:ext cx="2377440" cy="731520"/>
          </a:xfrm>
          <a:prstGeom prst="rect">
            <a:avLst/>
          </a:prstGeom>
          <a:solidFill>
            <a:srgbClr val="1E7A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2377440" cy="731520"/>
          </a:xfrm>
          <a:prstGeom prst="rect">
            <a:avLst/>
          </a:prstGeom>
          <a:noFill/>
        </p:spPr>
        <p:txBody>
          <a:bodyPr wrap="none" anchor="ctr">
            <a:spAutoFit/>
          </a:bodyPr>
          <a:lstStyle/>
          <a:p>
            <a:pPr algn="ctr"/>
            <a:r>
              <a:rPr sz="2000" b="1">
                <a:solidFill>
                  <a:srgbClr val="FFFFFF"/>
                </a:solidFill>
                <a:latin typeface="Meiryo"/>
              </a:rPr>
              <a:t>0〜30</a:t>
            </a:r>
          </a:p>
        </p:txBody>
      </p:sp>
      <p:sp>
        <p:nvSpPr>
          <p:cNvPr id="8" name="TextBox 7"/>
          <p:cNvSpPr txBox="1"/>
          <p:nvPr/>
        </p:nvSpPr>
        <p:spPr>
          <a:xfrm>
            <a:off x="3200400" y="1463040"/>
            <a:ext cx="8046720" cy="731520"/>
          </a:xfrm>
          <a:prstGeom prst="rect">
            <a:avLst/>
          </a:prstGeom>
          <a:noFill/>
        </p:spPr>
        <p:txBody>
          <a:bodyPr wrap="none" anchor="ctr">
            <a:spAutoFit/>
          </a:bodyPr>
          <a:lstStyle/>
          <a:p>
            <a:r>
              <a:rPr sz="2000" b="0">
                <a:solidFill>
                  <a:srgbClr val="1F335E"/>
                </a:solidFill>
                <a:latin typeface="Meiryo"/>
              </a:rPr>
              <a:t>書き写した可能性は低い</a:t>
            </a:r>
          </a:p>
        </p:txBody>
      </p:sp>
      <p:sp>
        <p:nvSpPr>
          <p:cNvPr id="9" name="Rectangle 8"/>
          <p:cNvSpPr/>
          <p:nvPr/>
        </p:nvSpPr>
        <p:spPr>
          <a:xfrm>
            <a:off x="640080" y="2331720"/>
            <a:ext cx="2377440" cy="73152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31720"/>
            <a:ext cx="2377440" cy="731520"/>
          </a:xfrm>
          <a:prstGeom prst="rect">
            <a:avLst/>
          </a:prstGeom>
          <a:noFill/>
        </p:spPr>
        <p:txBody>
          <a:bodyPr wrap="none" anchor="ctr">
            <a:spAutoFit/>
          </a:bodyPr>
          <a:lstStyle/>
          <a:p>
            <a:pPr algn="ctr"/>
            <a:r>
              <a:rPr sz="2000" b="1">
                <a:solidFill>
                  <a:srgbClr val="FFFFFF"/>
                </a:solidFill>
                <a:latin typeface="Meiryo"/>
              </a:rPr>
              <a:t>31〜60</a:t>
            </a:r>
          </a:p>
        </p:txBody>
      </p:sp>
      <p:sp>
        <p:nvSpPr>
          <p:cNvPr id="11" name="TextBox 10"/>
          <p:cNvSpPr txBox="1"/>
          <p:nvPr/>
        </p:nvSpPr>
        <p:spPr>
          <a:xfrm>
            <a:off x="3200400" y="2331720"/>
            <a:ext cx="8046720" cy="731520"/>
          </a:xfrm>
          <a:prstGeom prst="rect">
            <a:avLst/>
          </a:prstGeom>
          <a:noFill/>
        </p:spPr>
        <p:txBody>
          <a:bodyPr wrap="none" anchor="ctr">
            <a:spAutoFit/>
          </a:bodyPr>
          <a:lstStyle/>
          <a:p>
            <a:r>
              <a:rPr sz="2000" b="0">
                <a:solidFill>
                  <a:srgbClr val="1F335E"/>
                </a:solidFill>
                <a:latin typeface="Meiryo"/>
              </a:rPr>
              <a:t>一部参考にした／判定困難</a:t>
            </a:r>
          </a:p>
        </p:txBody>
      </p:sp>
      <p:sp>
        <p:nvSpPr>
          <p:cNvPr id="12" name="Rectangle 11"/>
          <p:cNvSpPr/>
          <p:nvPr/>
        </p:nvSpPr>
        <p:spPr>
          <a:xfrm>
            <a:off x="640080" y="3200400"/>
            <a:ext cx="2377440" cy="731520"/>
          </a:xfrm>
          <a:prstGeom prst="rect">
            <a:avLst/>
          </a:prstGeom>
          <a:solidFill>
            <a:srgbClr val="C9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200400"/>
            <a:ext cx="2377440" cy="731520"/>
          </a:xfrm>
          <a:prstGeom prst="rect">
            <a:avLst/>
          </a:prstGeom>
          <a:noFill/>
        </p:spPr>
        <p:txBody>
          <a:bodyPr wrap="none" anchor="ctr">
            <a:spAutoFit/>
          </a:bodyPr>
          <a:lstStyle/>
          <a:p>
            <a:pPr algn="ctr"/>
            <a:r>
              <a:rPr sz="2000" b="1">
                <a:solidFill>
                  <a:srgbClr val="FFFFFF"/>
                </a:solidFill>
                <a:latin typeface="Meiryo"/>
              </a:rPr>
              <a:t>61〜80</a:t>
            </a:r>
          </a:p>
        </p:txBody>
      </p:sp>
      <p:sp>
        <p:nvSpPr>
          <p:cNvPr id="14" name="TextBox 13"/>
          <p:cNvSpPr txBox="1"/>
          <p:nvPr/>
        </p:nvSpPr>
        <p:spPr>
          <a:xfrm>
            <a:off x="3200400" y="3200400"/>
            <a:ext cx="8046720" cy="731520"/>
          </a:xfrm>
          <a:prstGeom prst="rect">
            <a:avLst/>
          </a:prstGeom>
          <a:noFill/>
        </p:spPr>
        <p:txBody>
          <a:bodyPr wrap="none" anchor="ctr">
            <a:spAutoFit/>
          </a:bodyPr>
          <a:lstStyle/>
          <a:p>
            <a:r>
              <a:rPr sz="2000" b="0">
                <a:solidFill>
                  <a:srgbClr val="1F335E"/>
                </a:solidFill>
                <a:latin typeface="Meiryo"/>
              </a:rPr>
              <a:t>書き写した可能性がやや高い</a:t>
            </a:r>
          </a:p>
        </p:txBody>
      </p:sp>
      <p:sp>
        <p:nvSpPr>
          <p:cNvPr id="15" name="Rectangle 14"/>
          <p:cNvSpPr/>
          <p:nvPr/>
        </p:nvSpPr>
        <p:spPr>
          <a:xfrm>
            <a:off x="640080" y="4069080"/>
            <a:ext cx="2377440" cy="731520"/>
          </a:xfrm>
          <a:prstGeom prst="rect">
            <a:avLst/>
          </a:prstGeom>
          <a:solidFill>
            <a:srgbClr val="B3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069080"/>
            <a:ext cx="2377440" cy="731520"/>
          </a:xfrm>
          <a:prstGeom prst="rect">
            <a:avLst/>
          </a:prstGeom>
          <a:noFill/>
        </p:spPr>
        <p:txBody>
          <a:bodyPr wrap="none" anchor="ctr">
            <a:spAutoFit/>
          </a:bodyPr>
          <a:lstStyle/>
          <a:p>
            <a:pPr algn="ctr"/>
            <a:r>
              <a:rPr sz="2000" b="1">
                <a:solidFill>
                  <a:srgbClr val="FFFFFF"/>
                </a:solidFill>
                <a:latin typeface="Meiryo"/>
              </a:rPr>
              <a:t>81〜100</a:t>
            </a:r>
          </a:p>
        </p:txBody>
      </p:sp>
      <p:sp>
        <p:nvSpPr>
          <p:cNvPr id="17" name="TextBox 16"/>
          <p:cNvSpPr txBox="1"/>
          <p:nvPr/>
        </p:nvSpPr>
        <p:spPr>
          <a:xfrm>
            <a:off x="3200400" y="4069080"/>
            <a:ext cx="8046720" cy="731520"/>
          </a:xfrm>
          <a:prstGeom prst="rect">
            <a:avLst/>
          </a:prstGeom>
          <a:noFill/>
        </p:spPr>
        <p:txBody>
          <a:bodyPr wrap="none" anchor="ctr">
            <a:spAutoFit/>
          </a:bodyPr>
          <a:lstStyle/>
          <a:p>
            <a:r>
              <a:rPr sz="2000" b="0">
                <a:solidFill>
                  <a:srgbClr val="1F335E"/>
                </a:solidFill>
                <a:latin typeface="Meiryo"/>
              </a:rPr>
              <a:t>書き写した可能性が高い</a:t>
            </a:r>
          </a:p>
        </p:txBody>
      </p:sp>
      <p:sp>
        <p:nvSpPr>
          <p:cNvPr id="18" name="TextBox 17"/>
          <p:cNvSpPr txBox="1"/>
          <p:nvPr/>
        </p:nvSpPr>
        <p:spPr>
          <a:xfrm>
            <a:off x="640080" y="5120640"/>
            <a:ext cx="10881360" cy="1280160"/>
          </a:xfrm>
          <a:prstGeom prst="rect">
            <a:avLst/>
          </a:prstGeom>
          <a:noFill/>
        </p:spPr>
        <p:txBody>
          <a:bodyPr wrap="square">
            <a:spAutoFit/>
          </a:bodyPr>
          <a:lstStyle/>
          <a:p>
            <a:r>
              <a:rPr sz="1600" b="0">
                <a:solidFill>
                  <a:srgbClr val="555555"/>
                </a:solidFill>
                <a:latin typeface="Meiryo"/>
              </a:rPr>
              <a:t>運用方針：迷う場合は 40〜60 に寄せる。0〜10／90〜100 の極端な値は、明確な根拠が複数そろう場合のみ使用。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3. 判定の仕組み（どう点数を出すか）</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5</a:t>
            </a:r>
          </a:p>
        </p:txBody>
      </p:sp>
      <p:sp>
        <p:nvSpPr>
          <p:cNvPr id="6" name="Rectangle 5"/>
          <p:cNvSpPr/>
          <p:nvPr/>
        </p:nvSpPr>
        <p:spPr>
          <a:xfrm>
            <a:off x="640080" y="1554480"/>
            <a:ext cx="2468880" cy="100584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54480"/>
            <a:ext cx="2468880" cy="1005840"/>
          </a:xfrm>
          <a:prstGeom prst="rect">
            <a:avLst/>
          </a:prstGeom>
          <a:noFill/>
        </p:spPr>
        <p:txBody>
          <a:bodyPr wrap="square" anchor="ctr">
            <a:spAutoFit/>
          </a:bodyPr>
          <a:lstStyle/>
          <a:p>
            <a:pPr algn="ctr"/>
            <a:r>
              <a:rPr sz="1500" b="1">
                <a:solidFill>
                  <a:srgbClr val="FFFFFF"/>
                </a:solidFill>
                <a:latin typeface="Meiryo"/>
              </a:rPr>
              <a:t>作文（手書き）</a:t>
            </a:r>
          </a:p>
        </p:txBody>
      </p:sp>
      <p:sp>
        <p:nvSpPr>
          <p:cNvPr id="8" name="TextBox 7"/>
          <p:cNvSpPr txBox="1"/>
          <p:nvPr/>
        </p:nvSpPr>
        <p:spPr>
          <a:xfrm>
            <a:off x="3108960" y="1554480"/>
            <a:ext cx="411480" cy="1005840"/>
          </a:xfrm>
          <a:prstGeom prst="rect">
            <a:avLst/>
          </a:prstGeom>
          <a:noFill/>
        </p:spPr>
        <p:txBody>
          <a:bodyPr wrap="none" anchor="ctr">
            <a:spAutoFit/>
          </a:bodyPr>
          <a:lstStyle/>
          <a:p>
            <a:pPr algn="ctr"/>
            <a:r>
              <a:rPr sz="2000" b="1">
                <a:solidFill>
                  <a:srgbClr val="1F335E"/>
                </a:solidFill>
                <a:latin typeface="Meiryo"/>
              </a:rPr>
              <a:t>▶</a:t>
            </a:r>
          </a:p>
        </p:txBody>
      </p:sp>
      <p:sp>
        <p:nvSpPr>
          <p:cNvPr id="9" name="Rectangle 8"/>
          <p:cNvSpPr/>
          <p:nvPr/>
        </p:nvSpPr>
        <p:spPr>
          <a:xfrm>
            <a:off x="3520440" y="1554480"/>
            <a:ext cx="2468880" cy="100584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554480"/>
            <a:ext cx="2468880" cy="1005840"/>
          </a:xfrm>
          <a:prstGeom prst="rect">
            <a:avLst/>
          </a:prstGeom>
          <a:noFill/>
        </p:spPr>
        <p:txBody>
          <a:bodyPr wrap="square" anchor="ctr">
            <a:spAutoFit/>
          </a:bodyPr>
          <a:lstStyle/>
          <a:p>
            <a:pPr algn="ctr"/>
            <a:r>
              <a:rPr sz="1500" b="1">
                <a:solidFill>
                  <a:srgbClr val="FFFFFF"/>
                </a:solidFill>
                <a:latin typeface="Meiryo"/>
              </a:rPr>
              <a:t>テキスト化</a:t>
            </a:r>
          </a:p>
        </p:txBody>
      </p:sp>
      <p:sp>
        <p:nvSpPr>
          <p:cNvPr id="11" name="TextBox 10"/>
          <p:cNvSpPr txBox="1"/>
          <p:nvPr/>
        </p:nvSpPr>
        <p:spPr>
          <a:xfrm>
            <a:off x="5989320" y="1554480"/>
            <a:ext cx="411480" cy="1005840"/>
          </a:xfrm>
          <a:prstGeom prst="rect">
            <a:avLst/>
          </a:prstGeom>
          <a:noFill/>
        </p:spPr>
        <p:txBody>
          <a:bodyPr wrap="none" anchor="ctr">
            <a:spAutoFit/>
          </a:bodyPr>
          <a:lstStyle/>
          <a:p>
            <a:pPr algn="ctr"/>
            <a:r>
              <a:rPr sz="2000" b="1">
                <a:solidFill>
                  <a:srgbClr val="1F335E"/>
                </a:solidFill>
                <a:latin typeface="Meiryo"/>
              </a:rPr>
              <a:t>▶</a:t>
            </a:r>
          </a:p>
        </p:txBody>
      </p:sp>
      <p:sp>
        <p:nvSpPr>
          <p:cNvPr id="12" name="Rectangle 11"/>
          <p:cNvSpPr/>
          <p:nvPr/>
        </p:nvSpPr>
        <p:spPr>
          <a:xfrm>
            <a:off x="6400800" y="1554480"/>
            <a:ext cx="2468880" cy="100584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2468880" cy="1005840"/>
          </a:xfrm>
          <a:prstGeom prst="rect">
            <a:avLst/>
          </a:prstGeom>
          <a:noFill/>
        </p:spPr>
        <p:txBody>
          <a:bodyPr wrap="square" anchor="ctr">
            <a:spAutoFit/>
          </a:bodyPr>
          <a:lstStyle/>
          <a:p>
            <a:pPr algn="ctr"/>
            <a:r>
              <a:rPr sz="1500" b="1">
                <a:solidFill>
                  <a:srgbClr val="FFFFFF"/>
                </a:solidFill>
                <a:latin typeface="Meiryo"/>
              </a:rPr>
              <a:t>判定用AI(LLM)</a:t>
            </a:r>
          </a:p>
          <a:p>
            <a:pPr algn="ctr"/>
            <a:r>
              <a:rPr sz="1500" b="1">
                <a:solidFill>
                  <a:srgbClr val="FFFFFF"/>
                </a:solidFill>
                <a:latin typeface="Meiryo"/>
              </a:rPr>
              <a:t>＋評価基準</a:t>
            </a:r>
          </a:p>
        </p:txBody>
      </p:sp>
      <p:sp>
        <p:nvSpPr>
          <p:cNvPr id="14" name="TextBox 13"/>
          <p:cNvSpPr txBox="1"/>
          <p:nvPr/>
        </p:nvSpPr>
        <p:spPr>
          <a:xfrm>
            <a:off x="8869680" y="1554480"/>
            <a:ext cx="411480" cy="1005840"/>
          </a:xfrm>
          <a:prstGeom prst="rect">
            <a:avLst/>
          </a:prstGeom>
          <a:noFill/>
        </p:spPr>
        <p:txBody>
          <a:bodyPr wrap="none" anchor="ctr">
            <a:spAutoFit/>
          </a:bodyPr>
          <a:lstStyle/>
          <a:p>
            <a:pPr algn="ctr"/>
            <a:r>
              <a:rPr sz="2000" b="1">
                <a:solidFill>
                  <a:srgbClr val="1F335E"/>
                </a:solidFill>
                <a:latin typeface="Meiryo"/>
              </a:rPr>
              <a:t>▶</a:t>
            </a:r>
          </a:p>
        </p:txBody>
      </p:sp>
      <p:sp>
        <p:nvSpPr>
          <p:cNvPr id="15" name="Rectangle 14"/>
          <p:cNvSpPr/>
          <p:nvPr/>
        </p:nvSpPr>
        <p:spPr>
          <a:xfrm>
            <a:off x="9281160" y="1554480"/>
            <a:ext cx="2468880"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1554480"/>
            <a:ext cx="2468880" cy="1005840"/>
          </a:xfrm>
          <a:prstGeom prst="rect">
            <a:avLst/>
          </a:prstGeom>
          <a:noFill/>
        </p:spPr>
        <p:txBody>
          <a:bodyPr wrap="square" anchor="ctr">
            <a:spAutoFit/>
          </a:bodyPr>
          <a:lstStyle/>
          <a:p>
            <a:pPr algn="ctr"/>
            <a:r>
              <a:rPr sz="1500" b="1">
                <a:solidFill>
                  <a:srgbClr val="FFFFFF"/>
                </a:solidFill>
                <a:latin typeface="Meiryo"/>
              </a:rPr>
              <a:t>スコア0〜100</a:t>
            </a:r>
          </a:p>
          <a:p>
            <a:pPr algn="ctr"/>
            <a:r>
              <a:rPr sz="1500" b="1">
                <a:solidFill>
                  <a:srgbClr val="FFFFFF"/>
                </a:solidFill>
                <a:latin typeface="Meiryo"/>
              </a:rPr>
              <a:t>＋根拠3点</a:t>
            </a:r>
          </a:p>
        </p:txBody>
      </p:sp>
      <p:sp>
        <p:nvSpPr>
          <p:cNvPr id="17" name="TextBox 16"/>
          <p:cNvSpPr txBox="1"/>
          <p:nvPr/>
        </p:nvSpPr>
        <p:spPr>
          <a:xfrm>
            <a:off x="640080" y="3108960"/>
            <a:ext cx="10881360" cy="5120640"/>
          </a:xfrm>
          <a:prstGeom prst="rect">
            <a:avLst/>
          </a:prstGeom>
          <a:noFill/>
        </p:spPr>
        <p:txBody>
          <a:bodyPr wrap="square">
            <a:spAutoFit/>
          </a:bodyPr>
          <a:lstStyle/>
          <a:p>
            <a:pPr>
              <a:spcAft>
                <a:spcPts val="800"/>
              </a:spcAft>
            </a:pPr>
            <a:r>
              <a:rPr sz="1700" b="1">
                <a:solidFill>
                  <a:srgbClr val="1F335E"/>
                </a:solidFill>
                <a:latin typeface="Meiryo"/>
              </a:rPr>
              <a:t>● スコアはAI（採点者役）の判断であり、固定の計算式から自動算出される値ではありません。</a:t>
            </a:r>
          </a:p>
          <a:p>
            <a:pPr>
              <a:spcAft>
                <a:spcPts val="800"/>
              </a:spcAft>
            </a:pPr>
            <a:r>
              <a:rPr sz="1700" b="0">
                <a:solidFill>
                  <a:srgbClr val="555555"/>
                </a:solidFill>
                <a:latin typeface="Meiryo"/>
              </a:rPr>
              <a:t>● 判断がブレないよう、評価の観点・各スコア帯の定義・禁止事項を文章で細かく固定しています。</a:t>
            </a:r>
          </a:p>
          <a:p>
            <a:pPr lvl="1">
              <a:spcAft>
                <a:spcPts val="800"/>
              </a:spcAft>
            </a:pPr>
            <a:r>
              <a:rPr sz="1500" b="0">
                <a:solidFill>
                  <a:srgbClr val="555555"/>
                </a:solidFill>
                <a:latin typeface="Meiryo"/>
              </a:rPr>
              <a:t>－ →「全員を同じ物差しで読む」ことを担保。</a:t>
            </a:r>
          </a:p>
          <a:p>
            <a:pPr>
              <a:spcAft>
                <a:spcPts val="800"/>
              </a:spcAft>
            </a:pPr>
            <a:r>
              <a:rPr sz="1700" b="1">
                <a:solidFill>
                  <a:srgbClr val="B32A2A"/>
                </a:solidFill>
                <a:latin typeface="Meiryo"/>
              </a:rPr>
              <a:t>● 同じ作文でも判定は多少揺れ得るため、確定値ではなく目安として扱います。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4. 評価の3つの軸（AIは何を見ているか）</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6</a:t>
            </a:r>
          </a:p>
        </p:txBody>
      </p:sp>
      <p:sp>
        <p:nvSpPr>
          <p:cNvPr id="6" name="Rectangle 5"/>
          <p:cNvSpPr/>
          <p:nvPr/>
        </p:nvSpPr>
        <p:spPr>
          <a:xfrm>
            <a:off x="457200" y="1371600"/>
            <a:ext cx="3657600" cy="64008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3657600" cy="640080"/>
          </a:xfrm>
          <a:prstGeom prst="rect">
            <a:avLst/>
          </a:prstGeom>
          <a:noFill/>
        </p:spPr>
        <p:txBody>
          <a:bodyPr wrap="none" anchor="ctr">
            <a:spAutoFit/>
          </a:bodyPr>
          <a:lstStyle/>
          <a:p>
            <a:pPr algn="ctr"/>
            <a:r>
              <a:rPr sz="1800" b="1">
                <a:solidFill>
                  <a:srgbClr val="FFFFFF"/>
                </a:solidFill>
                <a:latin typeface="Meiryo"/>
              </a:rPr>
              <a:t>A. 具体性・本人性</a:t>
            </a:r>
          </a:p>
        </p:txBody>
      </p:sp>
      <p:sp>
        <p:nvSpPr>
          <p:cNvPr id="8" name="Rectangle 7"/>
          <p:cNvSpPr/>
          <p:nvPr/>
        </p:nvSpPr>
        <p:spPr>
          <a:xfrm>
            <a:off x="457200" y="2011680"/>
            <a:ext cx="3657600" cy="45720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48840"/>
            <a:ext cx="3383280" cy="4389120"/>
          </a:xfrm>
          <a:prstGeom prst="rect">
            <a:avLst/>
          </a:prstGeom>
          <a:noFill/>
        </p:spPr>
        <p:txBody>
          <a:bodyPr wrap="square">
            <a:spAutoFit/>
          </a:bodyPr>
          <a:lstStyle/>
          <a:p>
            <a:pPr>
              <a:spcAft>
                <a:spcPts val="500"/>
              </a:spcAft>
            </a:pPr>
            <a:r>
              <a:rPr sz="1400" b="0">
                <a:solidFill>
                  <a:srgbClr val="555555"/>
                </a:solidFill>
                <a:latin typeface="Meiryo"/>
              </a:rPr>
              <a:t>・経験・失敗・迷いの記述</a:t>
            </a:r>
          </a:p>
          <a:p>
            <a:pPr>
              <a:spcAft>
                <a:spcPts val="500"/>
              </a:spcAft>
            </a:pPr>
            <a:r>
              <a:rPr sz="1400" b="0">
                <a:solidFill>
                  <a:srgbClr val="555555"/>
                </a:solidFill>
                <a:latin typeface="Meiryo"/>
              </a:rPr>
              <a:t>・部活/家族/友人/地域</a:t>
            </a:r>
          </a:p>
          <a:p>
            <a:pPr>
              <a:spcAft>
                <a:spcPts val="500"/>
              </a:spcAft>
            </a:pPr>
            <a:r>
              <a:rPr sz="1400" b="0">
                <a:solidFill>
                  <a:srgbClr val="555555"/>
                </a:solidFill>
                <a:latin typeface="Meiryo"/>
              </a:rPr>
              <a:t>・固有名詞・具体的場面</a:t>
            </a:r>
          </a:p>
          <a:p>
            <a:pPr>
              <a:spcAft>
                <a:spcPts val="500"/>
              </a:spcAft>
            </a:pPr>
            <a:r>
              <a:rPr sz="1300" b="1">
                <a:solidFill>
                  <a:srgbClr val="1E7A46"/>
                </a:solidFill>
                <a:latin typeface="Meiryo"/>
              </a:rPr>
              <a:t>↑あればAI可能性は低</a:t>
            </a:r>
          </a:p>
          <a:p>
            <a:pPr>
              <a:spcAft>
                <a:spcPts val="500"/>
              </a:spcAft>
            </a:pPr>
            <a:r>
              <a:rPr sz="1400" b="0">
                <a:solidFill>
                  <a:srgbClr val="555555"/>
                </a:solidFill>
                <a:latin typeface="Meiryo"/>
              </a:rPr>
              <a:t>・一般論・大きな主語のみ</a:t>
            </a:r>
          </a:p>
          <a:p>
            <a:pPr>
              <a:spcAft>
                <a:spcPts val="500"/>
              </a:spcAft>
            </a:pPr>
            <a:r>
              <a:rPr sz="1400" b="0">
                <a:solidFill>
                  <a:srgbClr val="555555"/>
                </a:solidFill>
                <a:latin typeface="Meiryo"/>
              </a:rPr>
              <a:t>・どの生徒でも書ける内容</a:t>
            </a:r>
          </a:p>
          <a:p>
            <a:pPr>
              <a:spcAft>
                <a:spcPts val="500"/>
              </a:spcAft>
            </a:pPr>
            <a:r>
              <a:rPr sz="1300" b="1">
                <a:solidFill>
                  <a:srgbClr val="B32A2A"/>
                </a:solidFill>
                <a:latin typeface="Meiryo"/>
              </a:rPr>
              <a:t>↑ならAI可能性は高</a:t>
            </a:r>
          </a:p>
        </p:txBody>
      </p:sp>
      <p:sp>
        <p:nvSpPr>
          <p:cNvPr id="10" name="Rectangle 9"/>
          <p:cNvSpPr/>
          <p:nvPr/>
        </p:nvSpPr>
        <p:spPr>
          <a:xfrm>
            <a:off x="4343400" y="1371600"/>
            <a:ext cx="3657600" cy="64008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371600"/>
            <a:ext cx="3657600" cy="640080"/>
          </a:xfrm>
          <a:prstGeom prst="rect">
            <a:avLst/>
          </a:prstGeom>
          <a:noFill/>
        </p:spPr>
        <p:txBody>
          <a:bodyPr wrap="none" anchor="ctr">
            <a:spAutoFit/>
          </a:bodyPr>
          <a:lstStyle/>
          <a:p>
            <a:pPr algn="ctr"/>
            <a:r>
              <a:rPr sz="1800" b="1">
                <a:solidFill>
                  <a:srgbClr val="FFFFFF"/>
                </a:solidFill>
                <a:latin typeface="Meiryo"/>
              </a:rPr>
              <a:t>B. 文体・語彙</a:t>
            </a:r>
          </a:p>
        </p:txBody>
      </p:sp>
      <p:sp>
        <p:nvSpPr>
          <p:cNvPr id="12" name="Rectangle 11"/>
          <p:cNvSpPr/>
          <p:nvPr/>
        </p:nvSpPr>
        <p:spPr>
          <a:xfrm>
            <a:off x="4343400" y="2011680"/>
            <a:ext cx="3657600" cy="45720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148840"/>
            <a:ext cx="3383280" cy="4389120"/>
          </a:xfrm>
          <a:prstGeom prst="rect">
            <a:avLst/>
          </a:prstGeom>
          <a:noFill/>
        </p:spPr>
        <p:txBody>
          <a:bodyPr wrap="square">
            <a:spAutoFit/>
          </a:bodyPr>
          <a:lstStyle/>
          <a:p>
            <a:pPr>
              <a:spcAft>
                <a:spcPts val="500"/>
              </a:spcAft>
            </a:pPr>
            <a:r>
              <a:rPr sz="1400" b="0">
                <a:solidFill>
                  <a:srgbClr val="555555"/>
                </a:solidFill>
                <a:latin typeface="Meiryo"/>
              </a:rPr>
              <a:t>・自然な言い回し</a:t>
            </a:r>
          </a:p>
          <a:p>
            <a:pPr>
              <a:spcAft>
                <a:spcPts val="500"/>
              </a:spcAft>
            </a:pPr>
            <a:r>
              <a:rPr sz="1400" b="0">
                <a:solidFill>
                  <a:srgbClr val="555555"/>
                </a:solidFill>
                <a:latin typeface="Meiryo"/>
              </a:rPr>
              <a:t>・文の長さのばらつき</a:t>
            </a:r>
          </a:p>
          <a:p>
            <a:pPr>
              <a:spcAft>
                <a:spcPts val="500"/>
              </a:spcAft>
            </a:pPr>
            <a:r>
              <a:rPr sz="1400" b="0">
                <a:solidFill>
                  <a:srgbClr val="555555"/>
                </a:solidFill>
                <a:latin typeface="Meiryo"/>
              </a:rPr>
              <a:t>・感情・言い直しの揺れ</a:t>
            </a:r>
          </a:p>
          <a:p>
            <a:pPr>
              <a:spcAft>
                <a:spcPts val="500"/>
              </a:spcAft>
            </a:pPr>
            <a:r>
              <a:rPr sz="1300" b="1">
                <a:solidFill>
                  <a:srgbClr val="1E7A46"/>
                </a:solidFill>
                <a:latin typeface="Meiryo"/>
              </a:rPr>
              <a:t>↑あればAI可能性は低</a:t>
            </a:r>
          </a:p>
          <a:p>
            <a:pPr>
              <a:spcAft>
                <a:spcPts val="500"/>
              </a:spcAft>
            </a:pPr>
            <a:r>
              <a:rPr sz="1400" b="0">
                <a:solidFill>
                  <a:srgbClr val="555555"/>
                </a:solidFill>
                <a:latin typeface="Meiryo"/>
              </a:rPr>
              <a:t>・均質すぎる文体</a:t>
            </a:r>
          </a:p>
          <a:p>
            <a:pPr>
              <a:spcAft>
                <a:spcPts val="500"/>
              </a:spcAft>
            </a:pPr>
            <a:r>
              <a:rPr sz="1400" b="0">
                <a:solidFill>
                  <a:srgbClr val="555555"/>
                </a:solidFill>
                <a:latin typeface="Meiryo"/>
              </a:rPr>
              <a:t>・定型表現・硬い抽象語</a:t>
            </a:r>
          </a:p>
          <a:p>
            <a:pPr>
              <a:spcAft>
                <a:spcPts val="500"/>
              </a:spcAft>
            </a:pPr>
            <a:r>
              <a:rPr sz="1300" b="1">
                <a:solidFill>
                  <a:srgbClr val="B32A2A"/>
                </a:solidFill>
                <a:latin typeface="Meiryo"/>
              </a:rPr>
              <a:t>↑ならAI可能性は高</a:t>
            </a:r>
          </a:p>
        </p:txBody>
      </p:sp>
      <p:sp>
        <p:nvSpPr>
          <p:cNvPr id="14" name="Rectangle 13"/>
          <p:cNvSpPr/>
          <p:nvPr/>
        </p:nvSpPr>
        <p:spPr>
          <a:xfrm>
            <a:off x="8229600" y="1371600"/>
            <a:ext cx="3657600" cy="64008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371600"/>
            <a:ext cx="3657600" cy="640080"/>
          </a:xfrm>
          <a:prstGeom prst="rect">
            <a:avLst/>
          </a:prstGeom>
          <a:noFill/>
        </p:spPr>
        <p:txBody>
          <a:bodyPr wrap="none" anchor="ctr">
            <a:spAutoFit/>
          </a:bodyPr>
          <a:lstStyle/>
          <a:p>
            <a:pPr algn="ctr"/>
            <a:r>
              <a:rPr sz="1800" b="1">
                <a:solidFill>
                  <a:srgbClr val="FFFFFF"/>
                </a:solidFill>
                <a:latin typeface="Meiryo"/>
              </a:rPr>
              <a:t>C. 構成</a:t>
            </a:r>
          </a:p>
        </p:txBody>
      </p:sp>
      <p:sp>
        <p:nvSpPr>
          <p:cNvPr id="16" name="Rectangle 15"/>
          <p:cNvSpPr/>
          <p:nvPr/>
        </p:nvSpPr>
        <p:spPr>
          <a:xfrm>
            <a:off x="8229600" y="2011680"/>
            <a:ext cx="3657600" cy="45720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2148840"/>
            <a:ext cx="3383280" cy="4389120"/>
          </a:xfrm>
          <a:prstGeom prst="rect">
            <a:avLst/>
          </a:prstGeom>
          <a:noFill/>
        </p:spPr>
        <p:txBody>
          <a:bodyPr wrap="square">
            <a:spAutoFit/>
          </a:bodyPr>
          <a:lstStyle/>
          <a:p>
            <a:pPr>
              <a:spcAft>
                <a:spcPts val="500"/>
              </a:spcAft>
            </a:pPr>
            <a:r>
              <a:rPr sz="1400" b="0">
                <a:solidFill>
                  <a:srgbClr val="555555"/>
                </a:solidFill>
                <a:latin typeface="Meiryo"/>
              </a:rPr>
              <a:t>・多少の偏り・寄り道</a:t>
            </a:r>
          </a:p>
          <a:p>
            <a:pPr>
              <a:spcAft>
                <a:spcPts val="500"/>
              </a:spcAft>
            </a:pPr>
            <a:r>
              <a:rPr sz="1400" b="0">
                <a:solidFill>
                  <a:srgbClr val="555555"/>
                </a:solidFill>
                <a:latin typeface="Meiryo"/>
              </a:rPr>
              <a:t>・段落ごとの熱量差</a:t>
            </a:r>
          </a:p>
          <a:p>
            <a:pPr>
              <a:spcAft>
                <a:spcPts val="500"/>
              </a:spcAft>
            </a:pPr>
            <a:r>
              <a:rPr sz="1400" b="0">
                <a:solidFill>
                  <a:srgbClr val="555555"/>
                </a:solidFill>
                <a:latin typeface="Meiryo"/>
              </a:rPr>
              <a:t>・考えの流れが見える</a:t>
            </a:r>
          </a:p>
          <a:p>
            <a:pPr>
              <a:spcAft>
                <a:spcPts val="500"/>
              </a:spcAft>
            </a:pPr>
            <a:r>
              <a:rPr sz="1300" b="1">
                <a:solidFill>
                  <a:srgbClr val="1E7A46"/>
                </a:solidFill>
                <a:latin typeface="Meiryo"/>
              </a:rPr>
              <a:t>↑あればAI可能性は低</a:t>
            </a:r>
          </a:p>
          <a:p>
            <a:pPr>
              <a:spcAft>
                <a:spcPts val="500"/>
              </a:spcAft>
            </a:pPr>
            <a:r>
              <a:rPr sz="1400" b="0">
                <a:solidFill>
                  <a:srgbClr val="555555"/>
                </a:solidFill>
                <a:latin typeface="Meiryo"/>
              </a:rPr>
              <a:t>・整いすぎた序論本論結論</a:t>
            </a:r>
          </a:p>
          <a:p>
            <a:pPr>
              <a:spcAft>
                <a:spcPts val="500"/>
              </a:spcAft>
            </a:pPr>
            <a:r>
              <a:rPr sz="1400" b="0">
                <a:solidFill>
                  <a:srgbClr val="555555"/>
                </a:solidFill>
                <a:latin typeface="Meiryo"/>
              </a:rPr>
              <a:t>・機械的整理・模範解答型</a:t>
            </a:r>
          </a:p>
          <a:p>
            <a:pPr>
              <a:spcAft>
                <a:spcPts val="500"/>
              </a:spcAft>
            </a:pPr>
            <a:r>
              <a:rPr sz="1300" b="1">
                <a:solidFill>
                  <a:srgbClr val="B32A2A"/>
                </a:solidFill>
                <a:latin typeface="Meiryo"/>
              </a:rPr>
              <a:t>↑ならAI可能性は高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5. 誤判定を防ぐルール（公平性の担保）</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7</a:t>
            </a:r>
          </a:p>
        </p:txBody>
      </p:sp>
      <p:sp>
        <p:nvSpPr>
          <p:cNvPr id="6" name="TextBox 5"/>
          <p:cNvSpPr txBox="1"/>
          <p:nvPr/>
        </p:nvSpPr>
        <p:spPr>
          <a:xfrm>
            <a:off x="640080" y="1325880"/>
            <a:ext cx="10881360" cy="5120640"/>
          </a:xfrm>
          <a:prstGeom prst="rect">
            <a:avLst/>
          </a:prstGeom>
          <a:noFill/>
        </p:spPr>
        <p:txBody>
          <a:bodyPr wrap="square">
            <a:spAutoFit/>
          </a:bodyPr>
          <a:lstStyle/>
          <a:p>
            <a:pPr>
              <a:spcAft>
                <a:spcPts val="800"/>
              </a:spcAft>
            </a:pPr>
            <a:r>
              <a:rPr sz="1700" b="1">
                <a:solidFill>
                  <a:srgbClr val="1F335E"/>
                </a:solidFill>
                <a:latin typeface="Meiryo"/>
              </a:rPr>
              <a:t>● 「文章がうまい子をAI扱いしてしまわないか」への対策を明示しています。</a:t>
            </a:r>
          </a:p>
          <a:p>
            <a:pPr>
              <a:spcAft>
                <a:spcPts val="800"/>
              </a:spcAft>
            </a:pPr>
            <a:r>
              <a:rPr sz="1700" b="1">
                <a:solidFill>
                  <a:srgbClr val="B32A2A"/>
                </a:solidFill>
                <a:latin typeface="Meiryo"/>
              </a:rPr>
              <a:t>● 単独の特徴だけでは高スコアにしない：</a:t>
            </a:r>
          </a:p>
          <a:p>
            <a:pPr lvl="1">
              <a:spcAft>
                <a:spcPts val="800"/>
              </a:spcAft>
            </a:pPr>
            <a:r>
              <a:rPr sz="1500" b="0">
                <a:solidFill>
                  <a:srgbClr val="555555"/>
                </a:solidFill>
                <a:latin typeface="Meiryo"/>
              </a:rPr>
              <a:t>－ 「手書きだから人間」とは判断しない</a:t>
            </a:r>
          </a:p>
          <a:p>
            <a:pPr lvl="1">
              <a:spcAft>
                <a:spcPts val="800"/>
              </a:spcAft>
            </a:pPr>
            <a:r>
              <a:rPr sz="1500" b="0">
                <a:solidFill>
                  <a:srgbClr val="555555"/>
                </a:solidFill>
                <a:latin typeface="Meiryo"/>
              </a:rPr>
              <a:t>－ 「誤字脱字があるから人間」とは単独で判断しない</a:t>
            </a:r>
          </a:p>
          <a:p>
            <a:pPr lvl="1">
              <a:spcAft>
                <a:spcPts val="800"/>
              </a:spcAft>
            </a:pPr>
            <a:r>
              <a:rPr sz="1500" b="0">
                <a:solidFill>
                  <a:srgbClr val="555555"/>
                </a:solidFill>
                <a:latin typeface="Meiryo"/>
              </a:rPr>
              <a:t>－ 「文章が上手いからAI」とは判断しない</a:t>
            </a:r>
          </a:p>
          <a:p>
            <a:pPr lvl="1">
              <a:spcAft>
                <a:spcPts val="800"/>
              </a:spcAft>
            </a:pPr>
            <a:r>
              <a:rPr sz="1500" b="0">
                <a:solidFill>
                  <a:srgbClr val="555555"/>
                </a:solidFill>
                <a:latin typeface="Meiryo"/>
              </a:rPr>
              <a:t>－ 「構成が整っているからAI」とは単独で判断しない</a:t>
            </a:r>
          </a:p>
          <a:p>
            <a:pPr lvl="1">
              <a:spcAft>
                <a:spcPts val="800"/>
              </a:spcAft>
            </a:pPr>
            <a:r>
              <a:rPr sz="1500" b="0">
                <a:solidFill>
                  <a:srgbClr val="555555"/>
                </a:solidFill>
                <a:latin typeface="Meiryo"/>
              </a:rPr>
              <a:t>－ 1つの特徴だけで極端なスコアにしない／「AIが書いた」と断定しない</a:t>
            </a:r>
          </a:p>
          <a:p>
            <a:pPr>
              <a:spcAft>
                <a:spcPts val="800"/>
              </a:spcAft>
            </a:pPr>
            <a:r>
              <a:rPr sz="1700" b="1">
                <a:solidFill>
                  <a:srgbClr val="1E7A46"/>
                </a:solidFill>
                <a:latin typeface="Meiryo"/>
              </a:rPr>
              <a:t>● 高スコアにしてよいのは複数の根拠がそろう場合のみ。</a:t>
            </a:r>
          </a:p>
          <a:p>
            <a:pPr lvl="1">
              <a:spcAft>
                <a:spcPts val="800"/>
              </a:spcAft>
            </a:pPr>
            <a:r>
              <a:rPr sz="1500" b="0">
                <a:solidFill>
                  <a:srgbClr val="555555"/>
                </a:solidFill>
                <a:latin typeface="Meiryo"/>
              </a:rPr>
              <a:t>－ 具体的体験がほぼない・抽象論が続く・定型表現が多い・整いすぎ 等が同時に見られる場合。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6. 出力形式（1件ごと）</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8</a:t>
            </a:r>
          </a:p>
        </p:txBody>
      </p:sp>
      <p:sp>
        <p:nvSpPr>
          <p:cNvPr id="6" name="TextBox 5"/>
          <p:cNvSpPr txBox="1"/>
          <p:nvPr/>
        </p:nvSpPr>
        <p:spPr>
          <a:xfrm>
            <a:off x="640080" y="1371600"/>
            <a:ext cx="10881360" cy="5120640"/>
          </a:xfrm>
          <a:prstGeom prst="rect">
            <a:avLst/>
          </a:prstGeom>
          <a:noFill/>
        </p:spPr>
        <p:txBody>
          <a:bodyPr wrap="square">
            <a:spAutoFit/>
          </a:bodyPr>
          <a:lstStyle/>
          <a:p>
            <a:pPr>
              <a:spcAft>
                <a:spcPts val="800"/>
              </a:spcAft>
            </a:pPr>
            <a:r>
              <a:rPr sz="1800" b="1">
                <a:solidFill>
                  <a:srgbClr val="1F335E"/>
                </a:solidFill>
                <a:latin typeface="Meiryo"/>
              </a:rPr>
              <a:t>● スコアだけでなく根拠3点をセットで残し、後から人が確認・反証できるようにしています。</a:t>
            </a:r>
          </a:p>
        </p:txBody>
      </p:sp>
      <p:sp>
        <p:nvSpPr>
          <p:cNvPr id="7" name="Rectangle 6"/>
          <p:cNvSpPr/>
          <p:nvPr/>
        </p:nvSpPr>
        <p:spPr>
          <a:xfrm>
            <a:off x="822960" y="2286000"/>
            <a:ext cx="10515600" cy="27432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68880"/>
            <a:ext cx="10058400" cy="2468880"/>
          </a:xfrm>
          <a:prstGeom prst="rect">
            <a:avLst/>
          </a:prstGeom>
          <a:noFill/>
        </p:spPr>
        <p:txBody>
          <a:bodyPr wrap="square">
            <a:spAutoFit/>
          </a:bodyPr>
          <a:lstStyle/>
          <a:p>
            <a:r>
              <a:rPr sz="1800" b="0">
                <a:solidFill>
                  <a:srgbClr val="1F335E"/>
                </a:solidFill>
                <a:latin typeface="Consolas"/>
              </a:rPr>
              <a:t>スコア: &lt;0〜100の整数&gt;</a:t>
            </a:r>
          </a:p>
          <a:p>
            <a:r>
              <a:rPr sz="1800" b="0">
                <a:solidFill>
                  <a:srgbClr val="1F335E"/>
                </a:solidFill>
                <a:latin typeface="Consolas"/>
              </a:rPr>
              <a:t/>
            </a:r>
          </a:p>
          <a:p>
            <a:r>
              <a:rPr sz="1800" b="0">
                <a:solidFill>
                  <a:srgbClr val="1F335E"/>
                </a:solidFill>
                <a:latin typeface="Consolas"/>
              </a:rPr>
              <a:t>根拠:</a:t>
            </a:r>
          </a:p>
          <a:p>
            <a:r>
              <a:rPr sz="1800" b="0">
                <a:solidFill>
                  <a:srgbClr val="1F335E"/>
                </a:solidFill>
                <a:latin typeface="Consolas"/>
              </a:rPr>
              <a:t>  - &lt;根拠1&gt;</a:t>
            </a:r>
          </a:p>
          <a:p>
            <a:r>
              <a:rPr sz="1800" b="0">
                <a:solidFill>
                  <a:srgbClr val="1F335E"/>
                </a:solidFill>
                <a:latin typeface="Consolas"/>
              </a:rPr>
              <a:t>  - &lt;根拠2&gt;</a:t>
            </a:r>
          </a:p>
          <a:p>
            <a:r>
              <a:rPr sz="1800" b="0">
                <a:solidFill>
                  <a:srgbClr val="1F335E"/>
                </a:solidFill>
                <a:latin typeface="Consolas"/>
              </a:rPr>
              <a:t>  - &lt;根拠3&gt;</a:t>
            </a:r>
          </a:p>
        </p:txBody>
      </p:sp>
      <p:sp>
        <p:nvSpPr>
          <p:cNvPr id="9" name="TextBox 8"/>
          <p:cNvSpPr txBox="1"/>
          <p:nvPr/>
        </p:nvSpPr>
        <p:spPr>
          <a:xfrm>
            <a:off x="822960" y="5303520"/>
            <a:ext cx="10515600" cy="914400"/>
          </a:xfrm>
          <a:prstGeom prst="rect">
            <a:avLst/>
          </a:prstGeom>
          <a:noFill/>
        </p:spPr>
        <p:txBody>
          <a:bodyPr wrap="square">
            <a:spAutoFit/>
          </a:bodyPr>
          <a:lstStyle/>
          <a:p>
            <a:r>
              <a:rPr sz="1600" b="0">
                <a:solidFill>
                  <a:srgbClr val="555555"/>
                </a:solidFill>
                <a:latin typeface="Meiryo"/>
              </a:rPr>
              <a:t>根拠は必ず3点。可能な場合は作文中の該当箇所を「」で短く引用させています。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7. この指標の限界（必ず共有すべき点）</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9</a:t>
            </a:r>
          </a:p>
        </p:txBody>
      </p:sp>
      <p:sp>
        <p:nvSpPr>
          <p:cNvPr id="6" name="TextBox 5"/>
          <p:cNvSpPr txBox="1"/>
          <p:nvPr/>
        </p:nvSpPr>
        <p:spPr>
          <a:xfrm>
            <a:off x="640080" y="1554480"/>
            <a:ext cx="10881360" cy="5120640"/>
          </a:xfrm>
          <a:prstGeom prst="rect">
            <a:avLst/>
          </a:prstGeom>
          <a:noFill/>
        </p:spPr>
        <p:txBody>
          <a:bodyPr wrap="square">
            <a:spAutoFit/>
          </a:bodyPr>
          <a:lstStyle/>
          <a:p>
            <a:pPr>
              <a:spcAft>
                <a:spcPts val="1400"/>
              </a:spcAft>
            </a:pPr>
            <a:r>
              <a:rPr sz="2000" b="1">
                <a:solidFill>
                  <a:srgbClr val="B32A2A"/>
                </a:solidFill>
                <a:latin typeface="Meiryo"/>
              </a:rPr>
              <a:t>● 断定ではなく「可能性」の参考値。最終判断は必ず人が行う。</a:t>
            </a:r>
          </a:p>
          <a:p>
            <a:pPr>
              <a:spcAft>
                <a:spcPts val="1400"/>
              </a:spcAft>
            </a:pPr>
            <a:r>
              <a:rPr sz="2000" b="0">
                <a:solidFill>
                  <a:srgbClr val="555555"/>
                </a:solidFill>
                <a:latin typeface="Meiryo"/>
              </a:rPr>
              <a:t>● AI判定のため、同じ作文でもスコアが多少揺れることがある。</a:t>
            </a:r>
          </a:p>
          <a:p>
            <a:pPr>
              <a:spcAft>
                <a:spcPts val="1400"/>
              </a:spcAft>
            </a:pPr>
            <a:r>
              <a:rPr sz="2000" b="0">
                <a:solidFill>
                  <a:srgbClr val="555555"/>
                </a:solidFill>
                <a:latin typeface="Meiryo"/>
              </a:rPr>
              <a:t>● 文章力が高い生徒を過剰に疑わない設計だが、誤判定を完全には排除できない。</a:t>
            </a:r>
          </a:p>
          <a:p>
            <a:pPr>
              <a:spcAft>
                <a:spcPts val="1400"/>
              </a:spcAft>
            </a:pPr>
            <a:r>
              <a:rPr sz="2000" b="1">
                <a:solidFill>
                  <a:srgbClr val="2E5CA6"/>
                </a:solidFill>
                <a:latin typeface="Meiryo"/>
              </a:rPr>
              <a:t>● 高スコアの作文は「クロ」ではなく「人による確認を優先すべき作文」と位置づける。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3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40000"/>
          </a:xfrm>
          <a:prstGeom prst="rect">
            <a:avLst/>
          </a:prstGeom>
          <a:solidFill>
            <a:srgbClr val="2E5C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515600" cy="731520"/>
          </a:xfrm>
          <a:prstGeom prst="rect">
            <a:avLst/>
          </a:prstGeom>
          <a:noFill/>
        </p:spPr>
        <p:txBody>
          <a:bodyPr wrap="none" anchor="ctr">
            <a:spAutoFit/>
          </a:bodyPr>
          <a:lstStyle/>
          <a:p>
            <a:r>
              <a:rPr sz="2800" b="1">
                <a:solidFill>
                  <a:srgbClr val="FFFFFF"/>
                </a:solidFill>
                <a:latin typeface="Meiryo"/>
              </a:rPr>
              <a:t>8. 想定問答（社長質問への回答案）</a:t>
            </a:r>
          </a:p>
        </p:txBody>
      </p:sp>
      <p:sp>
        <p:nvSpPr>
          <p:cNvPr id="5" name="TextBox 4"/>
          <p:cNvSpPr txBox="1"/>
          <p:nvPr/>
        </p:nvSpPr>
        <p:spPr>
          <a:xfrm>
            <a:off x="11338560" y="164592"/>
            <a:ext cx="640080" cy="731520"/>
          </a:xfrm>
          <a:prstGeom prst="rect">
            <a:avLst/>
          </a:prstGeom>
          <a:noFill/>
        </p:spPr>
        <p:txBody>
          <a:bodyPr wrap="none" anchor="ctr">
            <a:spAutoFit/>
          </a:bodyPr>
          <a:lstStyle/>
          <a:p>
            <a:pPr algn="r"/>
            <a:r>
              <a:rPr sz="1600" b="0">
                <a:solidFill>
                  <a:srgbClr val="FFFFFF"/>
                </a:solidFill>
                <a:latin typeface="Meiryo"/>
              </a:rPr>
              <a:t>10</a:t>
            </a:r>
          </a:p>
        </p:txBody>
      </p:sp>
      <p:sp>
        <p:nvSpPr>
          <p:cNvPr id="6" name="TextBox 5"/>
          <p:cNvSpPr txBox="1"/>
          <p:nvPr/>
        </p:nvSpPr>
        <p:spPr>
          <a:xfrm>
            <a:off x="548640" y="1325880"/>
            <a:ext cx="11064240" cy="457200"/>
          </a:xfrm>
          <a:prstGeom prst="rect">
            <a:avLst/>
          </a:prstGeom>
          <a:noFill/>
        </p:spPr>
        <p:txBody>
          <a:bodyPr wrap="square">
            <a:spAutoFit/>
          </a:bodyPr>
          <a:lstStyle/>
          <a:p>
            <a:r>
              <a:rPr sz="1700" b="1">
                <a:solidFill>
                  <a:srgbClr val="1F335E"/>
                </a:solidFill>
                <a:latin typeface="Meiryo"/>
              </a:rPr>
              <a:t>Q. どうやってAIが書いたか／自分で考えたかを判断しているのか？</a:t>
            </a:r>
          </a:p>
        </p:txBody>
      </p:sp>
      <p:sp>
        <p:nvSpPr>
          <p:cNvPr id="7" name="TextBox 6"/>
          <p:cNvSpPr txBox="1"/>
          <p:nvPr/>
        </p:nvSpPr>
        <p:spPr>
          <a:xfrm>
            <a:off x="731520" y="1783080"/>
            <a:ext cx="10881360" cy="1097280"/>
          </a:xfrm>
          <a:prstGeom prst="rect">
            <a:avLst/>
          </a:prstGeom>
          <a:noFill/>
        </p:spPr>
        <p:txBody>
          <a:bodyPr wrap="square">
            <a:spAutoFit/>
          </a:bodyPr>
          <a:lstStyle/>
          <a:p>
            <a:r>
              <a:rPr sz="1400" b="0">
                <a:solidFill>
                  <a:srgbClr val="555555"/>
                </a:solidFill>
                <a:latin typeface="Meiryo"/>
              </a:rPr>
              <a:t>A. 専用の生成AIに全作文を同一基準で読ませ、「本人の体験が見えるか」「整いすぎていないか」「AI特有の定型表現・均質な構成が続いていないか」の3観点で、0〜100のスコアと根拠3点を出力。機械的計算ではなく、基準を固定した採点者（AI）による見立てです。</a:t>
            </a:r>
          </a:p>
        </p:txBody>
      </p:sp>
      <p:sp>
        <p:nvSpPr>
          <p:cNvPr id="8" name="TextBox 7"/>
          <p:cNvSpPr txBox="1"/>
          <p:nvPr/>
        </p:nvSpPr>
        <p:spPr>
          <a:xfrm>
            <a:off x="548640" y="3017520"/>
            <a:ext cx="11064240" cy="457200"/>
          </a:xfrm>
          <a:prstGeom prst="rect">
            <a:avLst/>
          </a:prstGeom>
          <a:noFill/>
        </p:spPr>
        <p:txBody>
          <a:bodyPr wrap="square">
            <a:spAutoFit/>
          </a:bodyPr>
          <a:lstStyle/>
          <a:p>
            <a:r>
              <a:rPr sz="1700" b="1">
                <a:solidFill>
                  <a:srgbClr val="1F335E"/>
                </a:solidFill>
                <a:latin typeface="Meiryo"/>
              </a:rPr>
              <a:t>Q. うまい作文をAI扱いしてしまわないか？</a:t>
            </a:r>
          </a:p>
        </p:txBody>
      </p:sp>
      <p:sp>
        <p:nvSpPr>
          <p:cNvPr id="9" name="TextBox 8"/>
          <p:cNvSpPr txBox="1"/>
          <p:nvPr/>
        </p:nvSpPr>
        <p:spPr>
          <a:xfrm>
            <a:off x="731520" y="3474720"/>
            <a:ext cx="10881360" cy="1097280"/>
          </a:xfrm>
          <a:prstGeom prst="rect">
            <a:avLst/>
          </a:prstGeom>
          <a:noFill/>
        </p:spPr>
        <p:txBody>
          <a:bodyPr wrap="square">
            <a:spAutoFit/>
          </a:bodyPr>
          <a:lstStyle/>
          <a:p>
            <a:r>
              <a:rPr sz="1400" b="0">
                <a:solidFill>
                  <a:srgbClr val="555555"/>
                </a:solidFill>
                <a:latin typeface="Meiryo"/>
              </a:rPr>
              <a:t>A. 「上手い／整っている／誤字が少ない」等の単独特徴だけでは高スコアにしないルールを明示。高スコアは複数の根拠がそろった場合のみです。</a:t>
            </a:r>
          </a:p>
        </p:txBody>
      </p:sp>
      <p:sp>
        <p:nvSpPr>
          <p:cNvPr id="10" name="TextBox 9"/>
          <p:cNvSpPr txBox="1"/>
          <p:nvPr/>
        </p:nvSpPr>
        <p:spPr>
          <a:xfrm>
            <a:off x="548640" y="4709160"/>
            <a:ext cx="11064240" cy="457200"/>
          </a:xfrm>
          <a:prstGeom prst="rect">
            <a:avLst/>
          </a:prstGeom>
          <a:noFill/>
        </p:spPr>
        <p:txBody>
          <a:bodyPr wrap="square">
            <a:spAutoFit/>
          </a:bodyPr>
          <a:lstStyle/>
          <a:p>
            <a:r>
              <a:rPr sz="1700" b="1">
                <a:solidFill>
                  <a:srgbClr val="1F335E"/>
                </a:solidFill>
                <a:latin typeface="Meiryo"/>
              </a:rPr>
              <a:t>Q. このスコアで処分や合否を決めてよいか？</a:t>
            </a:r>
          </a:p>
        </p:txBody>
      </p:sp>
      <p:sp>
        <p:nvSpPr>
          <p:cNvPr id="11" name="TextBox 10"/>
          <p:cNvSpPr txBox="1"/>
          <p:nvPr/>
        </p:nvSpPr>
        <p:spPr>
          <a:xfrm>
            <a:off x="731520" y="5166360"/>
            <a:ext cx="10881360" cy="1097280"/>
          </a:xfrm>
          <a:prstGeom prst="rect">
            <a:avLst/>
          </a:prstGeom>
          <a:noFill/>
        </p:spPr>
        <p:txBody>
          <a:bodyPr wrap="square">
            <a:spAutoFit/>
          </a:bodyPr>
          <a:lstStyle/>
          <a:p>
            <a:r>
              <a:rPr sz="1400" b="0">
                <a:solidFill>
                  <a:srgbClr val="555555"/>
                </a:solidFill>
                <a:latin typeface="Meiryo"/>
              </a:rPr>
              <a:t>A. いいえ。スクリーニング用の参考指標です。高スコアを抽出し、最終的には根拠と原文を人が確認して判断する運用を想定しています。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